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Default Extension="jp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888" r:id="rId1"/>
  </p:sldMasterIdLst>
  <p:sldIdLst>
    <p:sldId id="256" r:id="rId2"/>
    <p:sldId id="259" r:id="rId3"/>
    <p:sldId id="257" r:id="rId4"/>
    <p:sldId id="258" r:id="rId5"/>
    <p:sldId id="294" r:id="rId6"/>
    <p:sldId id="293" r:id="rId7"/>
    <p:sldId id="260" r:id="rId8"/>
    <p:sldId id="289" r:id="rId9"/>
    <p:sldId id="270" r:id="rId10"/>
    <p:sldId id="261" r:id="rId11"/>
    <p:sldId id="271" r:id="rId12"/>
    <p:sldId id="273" r:id="rId13"/>
    <p:sldId id="272" r:id="rId14"/>
    <p:sldId id="275" r:id="rId15"/>
    <p:sldId id="274" r:id="rId16"/>
    <p:sldId id="278" r:id="rId17"/>
    <p:sldId id="277" r:id="rId18"/>
    <p:sldId id="276" r:id="rId19"/>
    <p:sldId id="282" r:id="rId20"/>
    <p:sldId id="281" r:id="rId21"/>
    <p:sldId id="280" r:id="rId22"/>
    <p:sldId id="279" r:id="rId23"/>
    <p:sldId id="283" r:id="rId24"/>
    <p:sldId id="284" r:id="rId25"/>
    <p:sldId id="285" r:id="rId26"/>
    <p:sldId id="287" r:id="rId27"/>
    <p:sldId id="290" r:id="rId28"/>
    <p:sldId id="291" r:id="rId29"/>
    <p:sldId id="292" r:id="rId30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384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ile medio 2 - Colore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000" autoAdjust="0"/>
    <p:restoredTop sz="94660"/>
  </p:normalViewPr>
  <p:slideViewPr>
    <p:cSldViewPr snapToGrid="0">
      <p:cViewPr varScale="1">
        <p:scale>
          <a:sx n="70" d="100"/>
          <a:sy n="70" d="100"/>
        </p:scale>
        <p:origin x="660" y="54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8" Type="http://schemas.openxmlformats.org/officeDocument/2006/relationships/slide" Target="slides/slide7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Diapositiva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6" name="Group 15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sp>
          <p:nvSpPr>
            <p:cNvPr id="15" name="Freeform 14"/>
            <p:cNvSpPr/>
            <p:nvPr/>
          </p:nvSpPr>
          <p:spPr>
            <a:xfrm>
              <a:off x="0" y="-7862"/>
              <a:ext cx="863600" cy="5698067"/>
            </a:xfrm>
            <a:custGeom>
              <a:avLst/>
              <a:gdLst/>
              <a:ahLst/>
              <a:cxnLst/>
              <a:rect l="l" t="t" r="r" b="b"/>
              <a:pathLst>
                <a:path w="863600" h="5698067">
                  <a:moveTo>
                    <a:pt x="0" y="8467"/>
                  </a:moveTo>
                  <a:lnTo>
                    <a:pt x="863600" y="0"/>
                  </a:lnTo>
                  <a:lnTo>
                    <a:pt x="863600" y="16934"/>
                  </a:lnTo>
                  <a:lnTo>
                    <a:pt x="0" y="5698067"/>
                  </a:lnTo>
                  <a:lnTo>
                    <a:pt x="0" y="8467"/>
                  </a:lnTo>
                  <a:close/>
                </a:path>
              </a:pathLst>
            </a:custGeom>
            <a:solidFill>
              <a:schemeClr val="accent1"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cxnSp>
          <p:nvCxnSpPr>
            <p:cNvPr id="19" name="Straight Connector 18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accent1">
                  <a:alpha val="7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Connector 19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accent1">
                  <a:alpha val="7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1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2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3" name="Isosceles Triangle 22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lumMod val="75000"/>
                <a:alpha val="6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4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75000"/>
                <a:alpha val="5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2"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Isosceles Triangle 26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lumMod val="75000"/>
                <a:alpha val="6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07067" y="2404534"/>
            <a:ext cx="7766936" cy="1646302"/>
          </a:xfrm>
        </p:spPr>
        <p:txBody>
          <a:bodyPr anchor="b">
            <a:noAutofit/>
          </a:bodyPr>
          <a:lstStyle>
            <a:lvl1pPr algn="r">
              <a:defRPr sz="5400">
                <a:solidFill>
                  <a:schemeClr val="accent1"/>
                </a:solidFill>
              </a:defRPr>
            </a:lvl1pPr>
          </a:lstStyle>
          <a:p>
            <a:r>
              <a:rPr lang="it-IT" smtClean="0"/>
              <a:t>Fare clic per modificare lo stile del titolo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07067" y="4050833"/>
            <a:ext cx="7766936" cy="1096899"/>
          </a:xfrm>
        </p:spPr>
        <p:txBody>
          <a:bodyPr anchor="t"/>
          <a:lstStyle>
            <a:lvl1pPr marL="0" indent="0" algn="r">
              <a:buNone/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it-IT" smtClean="0"/>
              <a:t>Fare clic per modificare lo stile del sottotitolo dello schema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960570-40D4-4251-9C9D-483363F27B24}" type="datetimeFigureOut">
              <a:rPr lang="it-IT" smtClean="0"/>
              <a:t>11/05/2020</a:t>
            </a:fld>
            <a:endParaRPr lang="it-IT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30991D-1417-4C50-8CA7-C547BD8E7EC6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19517035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olo e contenu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smtClean="0"/>
              <a:t>Fare clic per modificare lo stile del titolo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it-IT" smtClean="0"/>
              <a:t>Modifica gli stili del testo dello schema</a:t>
            </a:r>
          </a:p>
          <a:p>
            <a:pPr lvl="1"/>
            <a:r>
              <a:rPr lang="it-IT" smtClean="0"/>
              <a:t>Secondo livello</a:t>
            </a:r>
          </a:p>
          <a:p>
            <a:pPr lvl="2"/>
            <a:r>
              <a:rPr lang="it-IT" smtClean="0"/>
              <a:t>Terzo livello</a:t>
            </a:r>
          </a:p>
          <a:p>
            <a:pPr lvl="3"/>
            <a:r>
              <a:rPr lang="it-IT" smtClean="0"/>
              <a:t>Quarto livello</a:t>
            </a:r>
          </a:p>
          <a:p>
            <a:pPr lvl="4"/>
            <a:r>
              <a:rPr lang="it-IT" smtClean="0"/>
              <a:t>Quinto livello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960570-40D4-4251-9C9D-483363F27B24}" type="datetimeFigureOut">
              <a:rPr lang="it-IT" smtClean="0"/>
              <a:t>11/05/2020</a:t>
            </a:fld>
            <a:endParaRPr lang="it-IT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30991D-1417-4C50-8CA7-C547BD8E7EC6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57781234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Intestazione sezio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2700867"/>
            <a:ext cx="8596668" cy="1826581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it-IT" smtClean="0"/>
              <a:t>Fare clic per modificare lo stile del titolo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860400"/>
          </a:xfrm>
        </p:spPr>
        <p:txBody>
          <a:bodyPr anchor="t"/>
          <a:lstStyle>
            <a:lvl1pPr marL="0" indent="0" algn="l">
              <a:buNone/>
              <a:defRPr sz="20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it-IT" smtClean="0"/>
              <a:t>Modifica gli stili del testo dello schema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960570-40D4-4251-9C9D-483363F27B24}" type="datetimeFigureOut">
              <a:rPr lang="it-IT" smtClean="0"/>
              <a:t>11/05/2020</a:t>
            </a:fld>
            <a:endParaRPr lang="it-IT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30991D-1417-4C50-8CA7-C547BD8E7EC6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60478733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e contenut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smtClean="0"/>
              <a:t>Fare clic per modificare lo stile del titolo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77334" y="2160589"/>
            <a:ext cx="4184035" cy="3880772"/>
          </a:xfrm>
        </p:spPr>
        <p:txBody>
          <a:bodyPr/>
          <a:lstStyle/>
          <a:p>
            <a:pPr lvl="0"/>
            <a:r>
              <a:rPr lang="it-IT" smtClean="0"/>
              <a:t>Modifica gli stili del testo dello schema</a:t>
            </a:r>
          </a:p>
          <a:p>
            <a:pPr lvl="1"/>
            <a:r>
              <a:rPr lang="it-IT" smtClean="0"/>
              <a:t>Secondo livello</a:t>
            </a:r>
          </a:p>
          <a:p>
            <a:pPr lvl="2"/>
            <a:r>
              <a:rPr lang="it-IT" smtClean="0"/>
              <a:t>Terzo livello</a:t>
            </a:r>
          </a:p>
          <a:p>
            <a:pPr lvl="3"/>
            <a:r>
              <a:rPr lang="it-IT" smtClean="0"/>
              <a:t>Quarto livello</a:t>
            </a:r>
          </a:p>
          <a:p>
            <a:pPr lvl="4"/>
            <a:r>
              <a:rPr lang="it-IT" smtClean="0"/>
              <a:t>Quinto livello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89970" y="2160589"/>
            <a:ext cx="4184034" cy="3880773"/>
          </a:xfrm>
        </p:spPr>
        <p:txBody>
          <a:bodyPr/>
          <a:lstStyle/>
          <a:p>
            <a:pPr lvl="0"/>
            <a:r>
              <a:rPr lang="it-IT" smtClean="0"/>
              <a:t>Modifica gli stili del testo dello schema</a:t>
            </a:r>
          </a:p>
          <a:p>
            <a:pPr lvl="1"/>
            <a:r>
              <a:rPr lang="it-IT" smtClean="0"/>
              <a:t>Secondo livello</a:t>
            </a:r>
          </a:p>
          <a:p>
            <a:pPr lvl="2"/>
            <a:r>
              <a:rPr lang="it-IT" smtClean="0"/>
              <a:t>Terzo livello</a:t>
            </a:r>
          </a:p>
          <a:p>
            <a:pPr lvl="3"/>
            <a:r>
              <a:rPr lang="it-IT" smtClean="0"/>
              <a:t>Quarto livello</a:t>
            </a:r>
          </a:p>
          <a:p>
            <a:pPr lvl="4"/>
            <a:r>
              <a:rPr lang="it-IT" smtClean="0"/>
              <a:t>Quinto livello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960570-40D4-4251-9C9D-483363F27B24}" type="datetimeFigureOut">
              <a:rPr lang="it-IT" smtClean="0"/>
              <a:t>11/05/2020</a:t>
            </a:fld>
            <a:endParaRPr lang="it-IT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30991D-1417-4C50-8CA7-C547BD8E7EC6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03528219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nfron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it-IT" smtClean="0"/>
              <a:t>Fare clic per modificare lo stile del titolo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745" y="2160983"/>
            <a:ext cx="418562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 smtClean="0"/>
              <a:t>Modifica gli stili del testo dello schema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75745" y="2737245"/>
            <a:ext cx="4185623" cy="3304117"/>
          </a:xfrm>
        </p:spPr>
        <p:txBody>
          <a:bodyPr>
            <a:normAutofit/>
          </a:bodyPr>
          <a:lstStyle/>
          <a:p>
            <a:pPr lvl="0"/>
            <a:r>
              <a:rPr lang="it-IT" smtClean="0"/>
              <a:t>Modifica gli stili del testo dello schema</a:t>
            </a:r>
          </a:p>
          <a:p>
            <a:pPr lvl="1"/>
            <a:r>
              <a:rPr lang="it-IT" smtClean="0"/>
              <a:t>Secondo livello</a:t>
            </a:r>
          </a:p>
          <a:p>
            <a:pPr lvl="2"/>
            <a:r>
              <a:rPr lang="it-IT" smtClean="0"/>
              <a:t>Terzo livello</a:t>
            </a:r>
          </a:p>
          <a:p>
            <a:pPr lvl="3"/>
            <a:r>
              <a:rPr lang="it-IT" smtClean="0"/>
              <a:t>Quarto livello</a:t>
            </a:r>
          </a:p>
          <a:p>
            <a:pPr lvl="4"/>
            <a:r>
              <a:rPr lang="it-IT" smtClean="0"/>
              <a:t>Quinto livello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88383" y="2160983"/>
            <a:ext cx="418561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 smtClean="0"/>
              <a:t>Modifica gli stili del testo dello schema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88384" y="2737245"/>
            <a:ext cx="4185617" cy="3304117"/>
          </a:xfrm>
        </p:spPr>
        <p:txBody>
          <a:bodyPr>
            <a:normAutofit/>
          </a:bodyPr>
          <a:lstStyle/>
          <a:p>
            <a:pPr lvl="0"/>
            <a:r>
              <a:rPr lang="it-IT" smtClean="0"/>
              <a:t>Modifica gli stili del testo dello schema</a:t>
            </a:r>
          </a:p>
          <a:p>
            <a:pPr lvl="1"/>
            <a:r>
              <a:rPr lang="it-IT" smtClean="0"/>
              <a:t>Secondo livello</a:t>
            </a:r>
          </a:p>
          <a:p>
            <a:pPr lvl="2"/>
            <a:r>
              <a:rPr lang="it-IT" smtClean="0"/>
              <a:t>Terzo livello</a:t>
            </a:r>
          </a:p>
          <a:p>
            <a:pPr lvl="3"/>
            <a:r>
              <a:rPr lang="it-IT" smtClean="0"/>
              <a:t>Quarto livello</a:t>
            </a:r>
          </a:p>
          <a:p>
            <a:pPr lvl="4"/>
            <a:r>
              <a:rPr lang="it-IT" smtClean="0"/>
              <a:t>Quinto livello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960570-40D4-4251-9C9D-483363F27B24}" type="datetimeFigureOut">
              <a:rPr lang="it-IT" smtClean="0"/>
              <a:t>11/05/2020</a:t>
            </a:fld>
            <a:endParaRPr lang="it-IT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30991D-1417-4C50-8CA7-C547BD8E7EC6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2316791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</p:spPr>
        <p:txBody>
          <a:bodyPr/>
          <a:lstStyle/>
          <a:p>
            <a:r>
              <a:rPr lang="it-IT" smtClean="0"/>
              <a:t>Fare clic per modificare lo stile del titolo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960570-40D4-4251-9C9D-483363F27B24}" type="datetimeFigureOut">
              <a:rPr lang="it-IT" smtClean="0"/>
              <a:t>11/05/2020</a:t>
            </a:fld>
            <a:endParaRPr lang="it-IT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30991D-1417-4C50-8CA7-C547BD8E7EC6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63948549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uo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960570-40D4-4251-9C9D-483363F27B24}" type="datetimeFigureOut">
              <a:rPr lang="it-IT" smtClean="0"/>
              <a:t>11/05/2020</a:t>
            </a:fld>
            <a:endParaRPr lang="it-IT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30991D-1417-4C50-8CA7-C547BD8E7EC6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72570164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to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1498604"/>
            <a:ext cx="3854528" cy="1278466"/>
          </a:xfrm>
        </p:spPr>
        <p:txBody>
          <a:bodyPr anchor="b">
            <a:normAutofit/>
          </a:bodyPr>
          <a:lstStyle>
            <a:lvl1pPr>
              <a:defRPr sz="2000"/>
            </a:lvl1pPr>
          </a:lstStyle>
          <a:p>
            <a:r>
              <a:rPr lang="it-IT" smtClean="0"/>
              <a:t>Fare clic per modificare lo stile del titolo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0461" y="514924"/>
            <a:ext cx="4513541" cy="5526437"/>
          </a:xfrm>
        </p:spPr>
        <p:txBody>
          <a:bodyPr>
            <a:normAutofit/>
          </a:bodyPr>
          <a:lstStyle/>
          <a:p>
            <a:pPr lvl="0"/>
            <a:r>
              <a:rPr lang="it-IT" smtClean="0"/>
              <a:t>Modifica gli stili del testo dello schema</a:t>
            </a:r>
          </a:p>
          <a:p>
            <a:pPr lvl="1"/>
            <a:r>
              <a:rPr lang="it-IT" smtClean="0"/>
              <a:t>Secondo livello</a:t>
            </a:r>
          </a:p>
          <a:p>
            <a:pPr lvl="2"/>
            <a:r>
              <a:rPr lang="it-IT" smtClean="0"/>
              <a:t>Terzo livello</a:t>
            </a:r>
          </a:p>
          <a:p>
            <a:pPr lvl="3"/>
            <a:r>
              <a:rPr lang="it-IT" smtClean="0"/>
              <a:t>Quarto livello</a:t>
            </a:r>
          </a:p>
          <a:p>
            <a:pPr lvl="4"/>
            <a:r>
              <a:rPr lang="it-IT" smtClean="0"/>
              <a:t>Quinto livello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2777069"/>
            <a:ext cx="3854528" cy="2584449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063" indent="0">
              <a:buNone/>
              <a:defRPr sz="1400"/>
            </a:lvl2pPr>
            <a:lvl3pPr marL="914126" indent="0">
              <a:buNone/>
              <a:defRPr sz="1200"/>
            </a:lvl3pPr>
            <a:lvl4pPr marL="1371189" indent="0">
              <a:buNone/>
              <a:defRPr sz="1000"/>
            </a:lvl4pPr>
            <a:lvl5pPr marL="1828251" indent="0">
              <a:buNone/>
              <a:defRPr sz="1000"/>
            </a:lvl5pPr>
            <a:lvl6pPr marL="2285314" indent="0">
              <a:buNone/>
              <a:defRPr sz="1000"/>
            </a:lvl6pPr>
            <a:lvl7pPr marL="2742377" indent="0">
              <a:buNone/>
              <a:defRPr sz="1000"/>
            </a:lvl7pPr>
            <a:lvl8pPr marL="3199440" indent="0">
              <a:buNone/>
              <a:defRPr sz="1000"/>
            </a:lvl8pPr>
            <a:lvl9pPr marL="3656503" indent="0">
              <a:buNone/>
              <a:defRPr sz="1000"/>
            </a:lvl9pPr>
          </a:lstStyle>
          <a:p>
            <a:pPr lvl="0"/>
            <a:r>
              <a:rPr lang="it-IT" smtClean="0"/>
              <a:t>Modifica gli stili del testo dello schema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960570-40D4-4251-9C9D-483363F27B24}" type="datetimeFigureOut">
              <a:rPr lang="it-IT" smtClean="0"/>
              <a:t>11/05/2020</a:t>
            </a:fld>
            <a:endParaRPr lang="it-IT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30991D-1417-4C50-8CA7-C547BD8E7EC6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41831355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magine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4800600"/>
            <a:ext cx="859666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it-IT" smtClean="0"/>
              <a:t>Fare clic per modificare lo stile del titolo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77334" y="609600"/>
            <a:ext cx="8596668" cy="3845718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it-IT" smtClean="0"/>
              <a:t>Fare clic sull'icona per inserire un'immagine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5367338"/>
            <a:ext cx="8596667" cy="674024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it-IT" smtClean="0"/>
              <a:t>Modifica gli stili del testo dello schema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30991D-1417-4C50-8CA7-C547BD8E7EC6}" type="slidenum">
              <a:rPr lang="it-IT" smtClean="0"/>
              <a:t>‹N›</a:t>
            </a:fld>
            <a:endParaRPr lang="it-IT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960570-40D4-4251-9C9D-483363F27B24}" type="datetimeFigureOut">
              <a:rPr lang="it-IT" smtClean="0"/>
              <a:t>11/05/2020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46757855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olo e sotto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609600"/>
            <a:ext cx="8596668" cy="3403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it-IT" smtClean="0"/>
              <a:t>Fare clic per modificare lo stile del titolo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it-IT" smtClean="0"/>
              <a:t>Modifica gli stili del testo dello schema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960570-40D4-4251-9C9D-483363F27B24}" type="datetimeFigureOut">
              <a:rPr lang="it-IT" smtClean="0"/>
              <a:t>11/05/2020</a:t>
            </a:fld>
            <a:endParaRPr lang="it-IT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30991D-1417-4C50-8CA7-C547BD8E7EC6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8941038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itazione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it-IT" smtClean="0"/>
              <a:t>Fare clic per modificare lo stile del titolo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366139" y="3632200"/>
            <a:ext cx="7224524" cy="38100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it-IT" smtClean="0"/>
              <a:t>Modifica gli stili del testo dello schema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it-IT" smtClean="0"/>
              <a:t>Modifica gli stili del testo dello schema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960570-40D4-4251-9C9D-483363F27B24}" type="datetimeFigureOut">
              <a:rPr lang="it-IT" smtClean="0"/>
              <a:t>11/05/2020</a:t>
            </a:fld>
            <a:endParaRPr lang="it-IT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30991D-1417-4C50-8CA7-C547BD8E7EC6}" type="slidenum">
              <a:rPr lang="it-IT" smtClean="0"/>
              <a:t>‹N›</a:t>
            </a:fld>
            <a:endParaRPr lang="it-IT"/>
          </a:p>
        </p:txBody>
      </p:sp>
      <p:sp>
        <p:nvSpPr>
          <p:cNvPr id="24" name="TextBox 23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203161583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cheda nom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1931988"/>
            <a:ext cx="8596668" cy="2595460"/>
          </a:xfrm>
        </p:spPr>
        <p:txBody>
          <a:bodyPr anchor="b">
            <a:normAutofit/>
          </a:bodyPr>
          <a:lstStyle>
            <a:lvl1pPr algn="l">
              <a:defRPr sz="4400" b="0" cap="none"/>
            </a:lvl1pPr>
          </a:lstStyle>
          <a:p>
            <a:r>
              <a:rPr lang="it-IT" smtClean="0"/>
              <a:t>Fare clic per modificare lo stile del titolo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it-IT" smtClean="0"/>
              <a:t>Modifica gli stili del testo dello schema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960570-40D4-4251-9C9D-483363F27B24}" type="datetimeFigureOut">
              <a:rPr lang="it-IT" smtClean="0"/>
              <a:t>11/05/2020</a:t>
            </a:fld>
            <a:endParaRPr lang="it-IT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30991D-1417-4C50-8CA7-C547BD8E7EC6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50800276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cheda nome citazio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it-IT" smtClean="0"/>
              <a:t>Fare clic per modificare lo stile del titolo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it-IT" smtClean="0"/>
              <a:t>Modifica gli stili del testo dello schema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it-IT" smtClean="0"/>
              <a:t>Modifica gli stili del testo dello schema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960570-40D4-4251-9C9D-483363F27B24}" type="datetimeFigureOut">
              <a:rPr lang="it-IT" smtClean="0"/>
              <a:t>11/05/2020</a:t>
            </a:fld>
            <a:endParaRPr lang="it-IT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30991D-1417-4C50-8CA7-C547BD8E7EC6}" type="slidenum">
              <a:rPr lang="it-IT" smtClean="0"/>
              <a:t>‹N›</a:t>
            </a:fld>
            <a:endParaRPr lang="it-IT"/>
          </a:p>
        </p:txBody>
      </p:sp>
      <p:sp>
        <p:nvSpPr>
          <p:cNvPr id="24" name="TextBox 23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452474286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Vero o fals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799" y="609600"/>
            <a:ext cx="8588203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it-IT" smtClean="0"/>
              <a:t>Fare clic per modificare lo stile del titolo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it-IT" smtClean="0"/>
              <a:t>Modifica gli stili del testo dello schema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it-IT" smtClean="0"/>
              <a:t>Modifica gli stili del testo dello schema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960570-40D4-4251-9C9D-483363F27B24}" type="datetimeFigureOut">
              <a:rPr lang="it-IT" smtClean="0"/>
              <a:t>11/05/2020</a:t>
            </a:fld>
            <a:endParaRPr lang="it-IT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30991D-1417-4C50-8CA7-C547BD8E7EC6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349383556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olo e testo vertica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smtClean="0"/>
              <a:t>Fare clic per modificare lo stile del titolo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it-IT" smtClean="0"/>
              <a:t>Modifica gli stili del testo dello schema</a:t>
            </a:r>
          </a:p>
          <a:p>
            <a:pPr lvl="1"/>
            <a:r>
              <a:rPr lang="it-IT" smtClean="0"/>
              <a:t>Secondo livello</a:t>
            </a:r>
          </a:p>
          <a:p>
            <a:pPr lvl="2"/>
            <a:r>
              <a:rPr lang="it-IT" smtClean="0"/>
              <a:t>Terzo livello</a:t>
            </a:r>
          </a:p>
          <a:p>
            <a:pPr lvl="3"/>
            <a:r>
              <a:rPr lang="it-IT" smtClean="0"/>
              <a:t>Quarto livello</a:t>
            </a:r>
          </a:p>
          <a:p>
            <a:pPr lvl="4"/>
            <a:r>
              <a:rPr lang="it-IT" smtClean="0"/>
              <a:t>Quinto livello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960570-40D4-4251-9C9D-483363F27B24}" type="datetimeFigureOut">
              <a:rPr lang="it-IT" smtClean="0"/>
              <a:t>11/05/2020</a:t>
            </a:fld>
            <a:endParaRPr lang="it-IT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30991D-1417-4C50-8CA7-C547BD8E7EC6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58681614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Titolo e testo vertica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967673" y="609599"/>
            <a:ext cx="1304743" cy="5251451"/>
          </a:xfrm>
        </p:spPr>
        <p:txBody>
          <a:bodyPr vert="eaVert" anchor="ctr"/>
          <a:lstStyle/>
          <a:p>
            <a:r>
              <a:rPr lang="it-IT" smtClean="0"/>
              <a:t>Fare clic per modificare lo stile del titolo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77335" y="609600"/>
            <a:ext cx="7060150" cy="5251450"/>
          </a:xfrm>
        </p:spPr>
        <p:txBody>
          <a:bodyPr vert="eaVert"/>
          <a:lstStyle/>
          <a:p>
            <a:pPr lvl="0"/>
            <a:r>
              <a:rPr lang="it-IT" smtClean="0"/>
              <a:t>Modifica gli stili del testo dello schema</a:t>
            </a:r>
          </a:p>
          <a:p>
            <a:pPr lvl="1"/>
            <a:r>
              <a:rPr lang="it-IT" smtClean="0"/>
              <a:t>Secondo livello</a:t>
            </a:r>
          </a:p>
          <a:p>
            <a:pPr lvl="2"/>
            <a:r>
              <a:rPr lang="it-IT" smtClean="0"/>
              <a:t>Terzo livello</a:t>
            </a:r>
          </a:p>
          <a:p>
            <a:pPr lvl="3"/>
            <a:r>
              <a:rPr lang="it-IT" smtClean="0"/>
              <a:t>Quarto livello</a:t>
            </a:r>
          </a:p>
          <a:p>
            <a:pPr lvl="4"/>
            <a:r>
              <a:rPr lang="it-IT" smtClean="0"/>
              <a:t>Quinto livello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960570-40D4-4251-9C9D-483363F27B24}" type="datetimeFigureOut">
              <a:rPr lang="it-IT" smtClean="0"/>
              <a:t>11/05/2020</a:t>
            </a:fld>
            <a:endParaRPr lang="it-IT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30991D-1417-4C50-8CA7-C547BD8E7EC6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422275400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4" name="Group 43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20" name="Straight Connector 19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accent1">
                  <a:alpha val="7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accent1">
                  <a:alpha val="7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3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4" name="Isosceles Triangle 23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lumMod val="75000"/>
                <a:alpha val="6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75000"/>
                <a:alpha val="5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2"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Isosceles Triangle 27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lumMod val="75000"/>
                <a:alpha val="6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Isosceles Triangle 18"/>
            <p:cNvSpPr/>
            <p:nvPr/>
          </p:nvSpPr>
          <p:spPr>
            <a:xfrm>
              <a:off x="0" y="4013200"/>
              <a:ext cx="448733" cy="2844800"/>
            </a:xfrm>
            <a:prstGeom prst="triangle">
              <a:avLst>
                <a:gd name="adj" fmla="val 0"/>
              </a:avLst>
            </a:prstGeom>
            <a:solidFill>
              <a:schemeClr val="accent1"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it-IT" smtClean="0"/>
              <a:t>Fare clic per modificare lo stile del titolo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4" y="2160589"/>
            <a:ext cx="8596668" cy="388077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it-IT" smtClean="0"/>
              <a:t>Modifica gli stili del testo dello schema</a:t>
            </a:r>
          </a:p>
          <a:p>
            <a:pPr lvl="1"/>
            <a:r>
              <a:rPr lang="it-IT" smtClean="0"/>
              <a:t>Secondo livello</a:t>
            </a:r>
          </a:p>
          <a:p>
            <a:pPr lvl="2"/>
            <a:r>
              <a:rPr lang="it-IT" smtClean="0"/>
              <a:t>Terzo livello</a:t>
            </a:r>
          </a:p>
          <a:p>
            <a:pPr lvl="3"/>
            <a:r>
              <a:rPr lang="it-IT" smtClean="0"/>
              <a:t>Quarto livello</a:t>
            </a:r>
          </a:p>
          <a:p>
            <a:pPr lvl="4"/>
            <a:r>
              <a:rPr lang="it-IT" smtClean="0"/>
              <a:t>Quinto livello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205133" y="6041362"/>
            <a:ext cx="9119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F960570-40D4-4251-9C9D-483363F27B24}" type="datetimeFigureOut">
              <a:rPr lang="it-IT" smtClean="0"/>
              <a:t>11/05/2020</a:t>
            </a:fld>
            <a:endParaRPr lang="it-IT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77334" y="6041362"/>
            <a:ext cx="629761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it-IT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590663" y="6041362"/>
            <a:ext cx="6833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1"/>
                </a:solidFill>
              </a:defRPr>
            </a:lvl1pPr>
          </a:lstStyle>
          <a:p>
            <a:fld id="{0030991D-1417-4C50-8CA7-C547BD8E7EC6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77842351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89" r:id="rId1"/>
    <p:sldLayoutId id="2147483890" r:id="rId2"/>
    <p:sldLayoutId id="2147483891" r:id="rId3"/>
    <p:sldLayoutId id="2147483892" r:id="rId4"/>
    <p:sldLayoutId id="2147483893" r:id="rId5"/>
    <p:sldLayoutId id="2147483894" r:id="rId6"/>
    <p:sldLayoutId id="2147483895" r:id="rId7"/>
    <p:sldLayoutId id="2147483896" r:id="rId8"/>
    <p:sldLayoutId id="2147483897" r:id="rId9"/>
    <p:sldLayoutId id="2147483898" r:id="rId10"/>
    <p:sldLayoutId id="2147483899" r:id="rId11"/>
    <p:sldLayoutId id="2147483900" r:id="rId12"/>
    <p:sldLayoutId id="2147483901" r:id="rId13"/>
    <p:sldLayoutId id="2147483902" r:id="rId14"/>
    <p:sldLayoutId id="2147483903" r:id="rId15"/>
    <p:sldLayoutId id="2147483904" r:id="rId16"/>
  </p:sldLayoutIdLst>
  <p:txStyles>
    <p:titleStyle>
      <a:lvl1pPr algn="l" defTabSz="457200" rtl="0" eaLnBrk="1" latinLnBrk="0" hangingPunct="1">
        <a:spcBef>
          <a:spcPct val="0"/>
        </a:spcBef>
        <a:buNone/>
        <a:defRPr sz="3600" kern="1200">
          <a:solidFill>
            <a:schemeClr val="accent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6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hyperlink" Target="https://pypi.org/project/requests/" TargetMode="External"/><Relationship Id="rId3" Type="http://schemas.openxmlformats.org/officeDocument/2006/relationships/hyperlink" Target="https://api.mongodb.com/python/current/tutorial.html" TargetMode="External"/><Relationship Id="rId7" Type="http://schemas.openxmlformats.org/officeDocument/2006/relationships/hyperlink" Target="https://docs.python.org/3/library/threading.html" TargetMode="External"/><Relationship Id="rId2" Type="http://schemas.openxmlformats.org/officeDocument/2006/relationships/hyperlink" Target="https://pypi.org/project/wordcloud/" TargetMode="Externa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github.com/carpedm20/emoji/" TargetMode="External"/><Relationship Id="rId5" Type="http://schemas.openxmlformats.org/officeDocument/2006/relationships/hyperlink" Target="https://www.nltk.org/install.html" TargetMode="External"/><Relationship Id="rId10" Type="http://schemas.openxmlformats.org/officeDocument/2006/relationships/image" Target="../media/image7.png"/><Relationship Id="rId4" Type="http://schemas.openxmlformats.org/officeDocument/2006/relationships/hyperlink" Target="https://github.com/mariadb-corporation/mariadb-connector-python/wiki/usage.md" TargetMode="External"/><Relationship Id="rId9" Type="http://schemas.openxmlformats.org/officeDocument/2006/relationships/hyperlink" Target="https://docs.python.org/3/library/re.html" TargetMode="Externa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jpg"/><Relationship Id="rId1" Type="http://schemas.openxmlformats.org/officeDocument/2006/relationships/slideLayout" Target="../slideLayouts/slideLayout3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jp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Box 4"/>
          <p:cNvSpPr txBox="1">
            <a:spLocks noChangeArrowheads="1"/>
          </p:cNvSpPr>
          <p:nvPr/>
        </p:nvSpPr>
        <p:spPr bwMode="auto">
          <a:xfrm>
            <a:off x="2353317" y="4909518"/>
            <a:ext cx="2957237" cy="107721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/>
          <a:p>
            <a:pPr fontAlgn="base">
              <a:spcBef>
                <a:spcPct val="50000"/>
              </a:spcBef>
              <a:spcAft>
                <a:spcPct val="0"/>
              </a:spcAft>
            </a:pPr>
            <a:r>
              <a:rPr lang="it-IT" altLang="it-IT" sz="1600" b="1" dirty="0" smtClean="0">
                <a:solidFill>
                  <a:prstClr val="black"/>
                </a:solidFill>
                <a:latin typeface="Palatino Linotype"/>
                <a:cs typeface="Arial" charset="0"/>
              </a:rPr>
              <a:t>STUDENTI</a:t>
            </a:r>
            <a:r>
              <a:rPr lang="it-IT" altLang="it-IT" sz="1600" b="1" dirty="0">
                <a:solidFill>
                  <a:prstClr val="black"/>
                </a:solidFill>
                <a:latin typeface="Palatino Linotype"/>
                <a:cs typeface="Arial" charset="0"/>
              </a:rPr>
              <a:t/>
            </a:r>
            <a:br>
              <a:rPr lang="it-IT" altLang="it-IT" sz="1600" b="1" dirty="0">
                <a:solidFill>
                  <a:prstClr val="black"/>
                </a:solidFill>
                <a:latin typeface="Palatino Linotype"/>
                <a:cs typeface="Arial" charset="0"/>
              </a:rPr>
            </a:br>
            <a:r>
              <a:rPr lang="it-IT" altLang="it-IT" sz="1600" b="1" dirty="0" smtClean="0">
                <a:solidFill>
                  <a:prstClr val="black"/>
                </a:solidFill>
                <a:latin typeface="Palatino Linotype"/>
                <a:cs typeface="Arial" charset="0"/>
              </a:rPr>
              <a:t>928995 Racanati Amedeo </a:t>
            </a:r>
            <a:r>
              <a:rPr lang="it-IT" sz="1600" dirty="0"/>
              <a:t>928869 </a:t>
            </a:r>
            <a:r>
              <a:rPr lang="it-IT" altLang="it-IT" sz="1600" b="1" dirty="0" smtClean="0">
                <a:solidFill>
                  <a:prstClr val="black"/>
                </a:solidFill>
                <a:latin typeface="Palatino Linotype"/>
                <a:cs typeface="Arial" charset="0"/>
              </a:rPr>
              <a:t>Sansonetti Angelo Pio</a:t>
            </a:r>
            <a:r>
              <a:rPr lang="it-IT" altLang="it-IT" sz="1600" dirty="0">
                <a:solidFill>
                  <a:prstClr val="black"/>
                </a:solidFill>
                <a:latin typeface="Palatino Linotype"/>
                <a:cs typeface="Arial" charset="0"/>
              </a:rPr>
              <a:t/>
            </a:r>
            <a:br>
              <a:rPr lang="it-IT" altLang="it-IT" sz="1600" dirty="0">
                <a:solidFill>
                  <a:prstClr val="black"/>
                </a:solidFill>
                <a:latin typeface="Palatino Linotype"/>
                <a:cs typeface="Arial" charset="0"/>
              </a:rPr>
            </a:br>
            <a:endParaRPr lang="it-IT" altLang="it-IT" sz="1600" dirty="0">
              <a:solidFill>
                <a:prstClr val="black"/>
              </a:solidFill>
              <a:latin typeface="Palatino Linotype"/>
              <a:cs typeface="Arial" charset="0"/>
            </a:endParaRPr>
          </a:p>
        </p:txBody>
      </p:sp>
      <p:sp>
        <p:nvSpPr>
          <p:cNvPr id="7" name="Text Box 5"/>
          <p:cNvSpPr txBox="1">
            <a:spLocks noChangeArrowheads="1"/>
          </p:cNvSpPr>
          <p:nvPr/>
        </p:nvSpPr>
        <p:spPr bwMode="auto">
          <a:xfrm>
            <a:off x="1896197" y="6099741"/>
            <a:ext cx="3816350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 algn="ctr" fontAlgn="base">
              <a:spcBef>
                <a:spcPct val="20000"/>
              </a:spcBef>
              <a:spcAft>
                <a:spcPct val="0"/>
              </a:spcAft>
            </a:pPr>
            <a:r>
              <a:rPr lang="it-IT" altLang="it-IT" b="1" dirty="0">
                <a:solidFill>
                  <a:prstClr val="black"/>
                </a:solidFill>
                <a:latin typeface="Palatino Linotype"/>
                <a:cs typeface="Arial" charset="0"/>
              </a:rPr>
              <a:t>Anno Accademico </a:t>
            </a:r>
            <a:r>
              <a:rPr lang="it-IT" altLang="it-IT" b="1" dirty="0" smtClean="0">
                <a:solidFill>
                  <a:prstClr val="black"/>
                </a:solidFill>
                <a:latin typeface="Palatino Linotype"/>
                <a:cs typeface="Arial" charset="0"/>
              </a:rPr>
              <a:t>2019-20</a:t>
            </a:r>
            <a:endParaRPr lang="it-IT" altLang="it-IT" b="1" dirty="0">
              <a:solidFill>
                <a:prstClr val="black"/>
              </a:solidFill>
              <a:latin typeface="Palatino Linotype"/>
              <a:cs typeface="Arial" charset="0"/>
            </a:endParaRPr>
          </a:p>
        </p:txBody>
      </p:sp>
      <p:sp>
        <p:nvSpPr>
          <p:cNvPr id="8" name="CasellaDiTesto 7"/>
          <p:cNvSpPr txBox="1"/>
          <p:nvPr/>
        </p:nvSpPr>
        <p:spPr>
          <a:xfrm>
            <a:off x="2173022" y="3429001"/>
            <a:ext cx="7992888" cy="11695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it-IT" altLang="it-IT" sz="2500" b="1" dirty="0">
                <a:solidFill>
                  <a:prstClr val="black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rPr>
              <a:t>Presentazione di progetto di Modelli e architetture avanzati di basi di dati</a:t>
            </a:r>
            <a:r>
              <a:rPr lang="it-IT" altLang="it-IT" sz="2500" b="1" dirty="0">
                <a:solidFill>
                  <a:prstClr val="black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Palatino Linotype"/>
                <a:cs typeface="Times New Roman" panose="02020603050405020304" pitchFamily="18" charset="0"/>
              </a:rPr>
              <a:t> </a:t>
            </a:r>
            <a:r>
              <a:rPr lang="it-IT" altLang="it-IT" sz="2500" b="1" i="1" dirty="0">
                <a:solidFill>
                  <a:prstClr val="black"/>
                </a:solidFill>
                <a:latin typeface="Palatino Linotype"/>
                <a:cs typeface="Times New Roman" panose="02020603050405020304" pitchFamily="18" charset="0"/>
              </a:rPr>
              <a:t/>
            </a:r>
            <a:br>
              <a:rPr lang="it-IT" altLang="it-IT" sz="2500" b="1" i="1" dirty="0">
                <a:solidFill>
                  <a:prstClr val="black"/>
                </a:solidFill>
                <a:latin typeface="Palatino Linotype"/>
                <a:cs typeface="Times New Roman" panose="02020603050405020304" pitchFamily="18" charset="0"/>
              </a:rPr>
            </a:br>
            <a:endParaRPr lang="it-IT" sz="2000" dirty="0">
              <a:solidFill>
                <a:prstClr val="black"/>
              </a:solidFill>
              <a:latin typeface="Palatino Linotype"/>
              <a:cs typeface="Arial" charset="0"/>
            </a:endParaRPr>
          </a:p>
        </p:txBody>
      </p:sp>
      <p:sp>
        <p:nvSpPr>
          <p:cNvPr id="10" name="CasellaDiTesto 9"/>
          <p:cNvSpPr txBox="1"/>
          <p:nvPr/>
        </p:nvSpPr>
        <p:spPr>
          <a:xfrm>
            <a:off x="2173022" y="1268760"/>
            <a:ext cx="7992888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it-IT" altLang="it-IT" sz="2500" dirty="0">
                <a:solidFill>
                  <a:srgbClr val="C0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rPr>
              <a:t>UNIVERSIT</a:t>
            </a:r>
            <a:r>
              <a:rPr lang="it-IT" sz="2500" dirty="0">
                <a:solidFill>
                  <a:srgbClr val="C0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rPr>
              <a:t>À DEGLI STUDI DI TORINO</a:t>
            </a:r>
          </a:p>
          <a:p>
            <a:pPr algn="ctr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it-IT" altLang="it-IT" sz="2500" dirty="0">
                <a:solidFill>
                  <a:srgbClr val="C0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rPr>
              <a:t>DIPARTIMENTO DI INFORMATICA</a:t>
            </a:r>
          </a:p>
          <a:p>
            <a:pPr algn="ctr" eaLnBrk="0" fontAlgn="base" hangingPunct="0">
              <a:spcBef>
                <a:spcPct val="0"/>
              </a:spcBef>
              <a:spcAft>
                <a:spcPct val="0"/>
              </a:spcAft>
            </a:pPr>
            <a:endParaRPr lang="it-IT" altLang="it-IT" sz="2500" b="1" dirty="0">
              <a:solidFill>
                <a:prstClr val="black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Palatino Linotype" panose="02040502050505030304" pitchFamily="18" charset="0"/>
              <a:cs typeface="Times New Roman" panose="02020603050405020304" pitchFamily="18" charset="0"/>
            </a:endParaRPr>
          </a:p>
          <a:p>
            <a:pPr algn="ctr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it-IT" altLang="it-IT" sz="2500" b="1" i="1" dirty="0">
                <a:solidFill>
                  <a:srgbClr val="9A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Corso di Laurea Magistrale in Informatica</a:t>
            </a:r>
            <a:r>
              <a:rPr lang="it-IT" altLang="it-IT" sz="2500" b="1" i="1" dirty="0">
                <a:solidFill>
                  <a:prstClr val="black"/>
                </a:solidFill>
                <a:latin typeface="Palatino Linotype"/>
                <a:cs typeface="Times New Roman" panose="02020603050405020304" pitchFamily="18" charset="0"/>
              </a:rPr>
              <a:t/>
            </a:r>
            <a:br>
              <a:rPr lang="it-IT" altLang="it-IT" sz="2500" b="1" i="1" dirty="0">
                <a:solidFill>
                  <a:prstClr val="black"/>
                </a:solidFill>
                <a:latin typeface="Palatino Linotype"/>
                <a:cs typeface="Times New Roman" panose="02020603050405020304" pitchFamily="18" charset="0"/>
              </a:rPr>
            </a:br>
            <a:endParaRPr lang="it-IT" sz="2000" i="1" dirty="0">
              <a:solidFill>
                <a:prstClr val="black"/>
              </a:solidFill>
              <a:latin typeface="Palatino Linotype"/>
              <a:cs typeface="Arial" charset="0"/>
            </a:endParaRPr>
          </a:p>
        </p:txBody>
      </p:sp>
      <p:pic>
        <p:nvPicPr>
          <p:cNvPr id="2" name="Immagine 1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25974" y="182054"/>
            <a:ext cx="1067970" cy="10867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7529099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magine 2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2012" y="1165709"/>
            <a:ext cx="11615672" cy="39924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1801290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/>
          <p:cNvSpPr>
            <a:spLocks noGrp="1"/>
          </p:cNvSpPr>
          <p:nvPr>
            <p:ph type="title"/>
          </p:nvPr>
        </p:nvSpPr>
        <p:spPr>
          <a:xfrm>
            <a:off x="1827707" y="491613"/>
            <a:ext cx="8596668" cy="1320800"/>
          </a:xfrm>
        </p:spPr>
        <p:txBody>
          <a:bodyPr/>
          <a:lstStyle/>
          <a:p>
            <a:pPr algn="ctr"/>
            <a:r>
              <a:rPr lang="it-IT" dirty="0" smtClean="0"/>
              <a:t>Schema dei dati</a:t>
            </a:r>
            <a:endParaRPr lang="it-IT" dirty="0"/>
          </a:p>
        </p:txBody>
      </p:sp>
      <p:pic>
        <p:nvPicPr>
          <p:cNvPr id="7" name="Immagine 6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86116" y="1270000"/>
            <a:ext cx="7879851" cy="48900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622953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olo 1"/>
          <p:cNvSpPr>
            <a:spLocks noGrp="1"/>
          </p:cNvSpPr>
          <p:nvPr>
            <p:ph type="title"/>
          </p:nvPr>
        </p:nvSpPr>
        <p:spPr>
          <a:xfrm>
            <a:off x="-2" y="1716576"/>
            <a:ext cx="3932809" cy="1320800"/>
          </a:xfrm>
        </p:spPr>
        <p:txBody>
          <a:bodyPr>
            <a:normAutofit fontScale="90000"/>
          </a:bodyPr>
          <a:lstStyle/>
          <a:p>
            <a:pPr algn="ctr"/>
            <a:r>
              <a:rPr lang="it-IT" dirty="0" smtClean="0"/>
              <a:t>Architettura</a:t>
            </a:r>
            <a:br>
              <a:rPr lang="it-IT" dirty="0" smtClean="0"/>
            </a:br>
            <a:r>
              <a:rPr lang="it-IT" dirty="0" smtClean="0"/>
              <a:t>degli shard in MongoDB</a:t>
            </a:r>
            <a:endParaRPr lang="it-IT" dirty="0"/>
          </a:p>
        </p:txBody>
      </p:sp>
      <p:pic>
        <p:nvPicPr>
          <p:cNvPr id="3" name="Immagine 2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98981" y="392743"/>
            <a:ext cx="8283837" cy="6059606"/>
          </a:xfrm>
          <a:prstGeom prst="rect">
            <a:avLst/>
          </a:prstGeom>
        </p:spPr>
      </p:pic>
      <p:sp>
        <p:nvSpPr>
          <p:cNvPr id="2" name="CasellaDiTesto 1"/>
          <p:cNvSpPr txBox="1"/>
          <p:nvPr/>
        </p:nvSpPr>
        <p:spPr>
          <a:xfrm>
            <a:off x="396909" y="3622545"/>
            <a:ext cx="3402072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 smtClean="0"/>
              <a:t>La comunicazione tra i due host è gestista mediante richieste HTTP POST con formato di scambio dati JSON. 	</a:t>
            </a:r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245842380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olo 1"/>
          <p:cNvSpPr>
            <a:spLocks noGrp="1"/>
          </p:cNvSpPr>
          <p:nvPr>
            <p:ph type="title"/>
          </p:nvPr>
        </p:nvSpPr>
        <p:spPr>
          <a:xfrm>
            <a:off x="548380" y="105508"/>
            <a:ext cx="8596668" cy="1320800"/>
          </a:xfrm>
        </p:spPr>
        <p:txBody>
          <a:bodyPr>
            <a:normAutofit/>
          </a:bodyPr>
          <a:lstStyle/>
          <a:p>
            <a:pPr algn="ctr"/>
            <a:r>
              <a:rPr lang="it-IT" dirty="0" smtClean="0"/>
              <a:t>Pipeline di elaborazione delle mappe in MongoDB</a:t>
            </a:r>
            <a:endParaRPr lang="it-IT" dirty="0"/>
          </a:p>
        </p:txBody>
      </p:sp>
      <p:pic>
        <p:nvPicPr>
          <p:cNvPr id="1026" name="Picture 2" descr="D:\Download\Untitled Diagram.png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6601" y="1567229"/>
            <a:ext cx="8296275" cy="48958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97606624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olo 1">
            <a:extLst>
              <a:ext uri="{FF2B5EF4-FFF2-40B4-BE49-F238E27FC236}">
                <a16:creationId xmlns:a16="http://schemas.microsoft.com/office/drawing/2014/main" id="{7B0C3D97-6237-4821-A89A-70162D11EE48}"/>
              </a:ext>
            </a:extLst>
          </p:cNvPr>
          <p:cNvSpPr txBox="1">
            <a:spLocks/>
          </p:cNvSpPr>
          <p:nvPr/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3600" kern="1200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it-IT" sz="2500" b="1" dirty="0" smtClean="0">
                <a:solidFill>
                  <a:prstClr val="black"/>
                </a:solidFill>
                <a:latin typeface="+mn-lt"/>
                <a:ea typeface="+mn-ea"/>
                <a:cs typeface="Times New Roman" panose="02020603050405020304" pitchFamily="18" charset="0"/>
              </a:rPr>
              <a:t>Elenco mappe generate</a:t>
            </a:r>
            <a:endParaRPr lang="it-IT" sz="2500" b="1" dirty="0">
              <a:solidFill>
                <a:prstClr val="black"/>
              </a:solidFill>
              <a:latin typeface="+mn-lt"/>
              <a:ea typeface="+mn-ea"/>
              <a:cs typeface="Times New Roman" panose="02020603050405020304" pitchFamily="18" charset="0"/>
            </a:endParaRPr>
          </a:p>
        </p:txBody>
      </p:sp>
      <p:sp>
        <p:nvSpPr>
          <p:cNvPr id="6" name="Segnaposto contenuto 2">
            <a:extLst>
              <a:ext uri="{FF2B5EF4-FFF2-40B4-BE49-F238E27FC236}">
                <a16:creationId xmlns:a16="http://schemas.microsoft.com/office/drawing/2014/main" id="{058AAC17-44C7-46C9-846C-ACC9953C05A1}"/>
              </a:ext>
            </a:extLst>
          </p:cNvPr>
          <p:cNvSpPr txBox="1">
            <a:spLocks/>
          </p:cNvSpPr>
          <p:nvPr/>
        </p:nvSpPr>
        <p:spPr>
          <a:xfrm>
            <a:off x="4917831" y="1231741"/>
            <a:ext cx="4038600" cy="1828800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10000"/>
          </a:bodyPr>
          <a:lstStyle>
            <a:lvl1pPr marL="342900" indent="-3429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Wingdings 3" charset="2"/>
              <a:buNone/>
            </a:pPr>
            <a:r>
              <a:rPr lang="it-IT" sz="2900" b="1" i="1" dirty="0" smtClean="0">
                <a:solidFill>
                  <a:prstClr val="black"/>
                </a:solidFill>
                <a:cs typeface="Times New Roman" panose="02020603050405020304" pitchFamily="18" charset="0"/>
              </a:rPr>
              <a:t>Hashtag Map:</a:t>
            </a:r>
          </a:p>
          <a:p>
            <a:pPr marL="0" indent="0">
              <a:buFont typeface="Wingdings 3" charset="2"/>
              <a:buNone/>
            </a:pPr>
            <a:r>
              <a:rPr lang="it-IT" sz="1900" dirty="0" smtClean="0">
                <a:solidFill>
                  <a:prstClr val="black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cs typeface="Times New Roman" panose="02020603050405020304" pitchFamily="18" charset="0"/>
              </a:rPr>
              <a:t/>
            </a:r>
            <a:br>
              <a:rPr lang="it-IT" sz="1900" dirty="0" smtClean="0">
                <a:solidFill>
                  <a:prstClr val="black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cs typeface="Times New Roman" panose="02020603050405020304" pitchFamily="18" charset="0"/>
              </a:rPr>
            </a:br>
            <a:r>
              <a:rPr lang="it-IT" sz="1900" dirty="0" smtClean="0">
                <a:solidFill>
                  <a:prstClr val="black"/>
                </a:solidFill>
                <a:cs typeface="Times New Roman" panose="02020603050405020304" pitchFamily="18" charset="0"/>
              </a:rPr>
              <a:t>per ciascun sentimento viene creata una mappa, che a sua volta contiene tante mappe per ciascun hashtag con relative frequenze</a:t>
            </a:r>
            <a:endParaRPr lang="it-IT" sz="1900" dirty="0">
              <a:solidFill>
                <a:prstClr val="black"/>
              </a:solidFill>
              <a:cs typeface="Times New Roman" panose="02020603050405020304" pitchFamily="18" charset="0"/>
            </a:endParaRPr>
          </a:p>
        </p:txBody>
      </p:sp>
      <p:sp>
        <p:nvSpPr>
          <p:cNvPr id="7" name="Segnaposto contenuto 3">
            <a:extLst>
              <a:ext uri="{FF2B5EF4-FFF2-40B4-BE49-F238E27FC236}">
                <a16:creationId xmlns:a16="http://schemas.microsoft.com/office/drawing/2014/main" id="{68B22042-CC38-489D-A7E5-BCC033D653FC}"/>
              </a:ext>
            </a:extLst>
          </p:cNvPr>
          <p:cNvSpPr txBox="1">
            <a:spLocks/>
          </p:cNvSpPr>
          <p:nvPr/>
        </p:nvSpPr>
        <p:spPr>
          <a:xfrm>
            <a:off x="457200" y="3645882"/>
            <a:ext cx="4038600" cy="2116832"/>
          </a:xfrm>
          <a:prstGeom prst="rect">
            <a:avLst/>
          </a:prstGeom>
        </p:spPr>
        <p:txBody>
          <a:bodyPr>
            <a:normAutofit fontScale="92500"/>
          </a:bodyPr>
          <a:lstStyle>
            <a:lvl1pPr marL="342900" indent="-3429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Wingdings 3" charset="2"/>
              <a:buNone/>
            </a:pPr>
            <a:r>
              <a:rPr lang="it-IT" sz="2900" b="1" i="1" dirty="0" smtClean="0">
                <a:solidFill>
                  <a:prstClr val="black"/>
                </a:solidFill>
                <a:cs typeface="Times New Roman" panose="02020603050405020304" pitchFamily="18" charset="0"/>
              </a:rPr>
              <a:t>Emoji Map:</a:t>
            </a:r>
          </a:p>
          <a:p>
            <a:pPr marL="0" indent="0">
              <a:buNone/>
            </a:pPr>
            <a:r>
              <a:rPr lang="it-IT" sz="1900" dirty="0" smtClean="0">
                <a:solidFill>
                  <a:prstClr val="black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cs typeface="Times New Roman" panose="02020603050405020304" pitchFamily="18" charset="0"/>
              </a:rPr>
              <a:t/>
            </a:r>
            <a:br>
              <a:rPr lang="it-IT" sz="1900" dirty="0" smtClean="0">
                <a:solidFill>
                  <a:prstClr val="black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cs typeface="Times New Roman" panose="02020603050405020304" pitchFamily="18" charset="0"/>
              </a:rPr>
            </a:br>
            <a:r>
              <a:rPr lang="it-IT" sz="1900" dirty="0">
                <a:solidFill>
                  <a:prstClr val="black"/>
                </a:solidFill>
                <a:cs typeface="Times New Roman" panose="02020603050405020304" pitchFamily="18" charset="0"/>
              </a:rPr>
              <a:t>per </a:t>
            </a:r>
            <a:r>
              <a:rPr lang="it-IT" sz="1900" dirty="0" smtClean="0">
                <a:solidFill>
                  <a:prstClr val="black"/>
                </a:solidFill>
                <a:cs typeface="Times New Roman" panose="02020603050405020304" pitchFamily="18" charset="0"/>
              </a:rPr>
              <a:t>ciascun sentimento viene </a:t>
            </a:r>
            <a:r>
              <a:rPr lang="it-IT" sz="1900" dirty="0">
                <a:solidFill>
                  <a:prstClr val="black"/>
                </a:solidFill>
                <a:cs typeface="Times New Roman" panose="02020603050405020304" pitchFamily="18" charset="0"/>
              </a:rPr>
              <a:t>creata una mappa, che a sua volta contiene tante mappe per </a:t>
            </a:r>
            <a:r>
              <a:rPr lang="it-IT" sz="1900" dirty="0" smtClean="0">
                <a:solidFill>
                  <a:prstClr val="black"/>
                </a:solidFill>
                <a:cs typeface="Times New Roman" panose="02020603050405020304" pitchFamily="18" charset="0"/>
              </a:rPr>
              <a:t>ciascuna </a:t>
            </a:r>
            <a:r>
              <a:rPr lang="it-IT" sz="1900" dirty="0">
                <a:solidFill>
                  <a:prstClr val="black"/>
                </a:solidFill>
                <a:cs typeface="Times New Roman" panose="02020603050405020304" pitchFamily="18" charset="0"/>
              </a:rPr>
              <a:t>emoji o emoticon</a:t>
            </a:r>
            <a:r>
              <a:rPr lang="it-IT" sz="1900" dirty="0" smtClean="0">
                <a:solidFill>
                  <a:prstClr val="black"/>
                </a:solidFill>
                <a:cs typeface="Times New Roman" panose="02020603050405020304" pitchFamily="18" charset="0"/>
              </a:rPr>
              <a:t> </a:t>
            </a:r>
            <a:r>
              <a:rPr lang="it-IT" sz="1900" dirty="0">
                <a:solidFill>
                  <a:prstClr val="black"/>
                </a:solidFill>
                <a:cs typeface="Times New Roman" panose="02020603050405020304" pitchFamily="18" charset="0"/>
              </a:rPr>
              <a:t>con relative frequenze</a:t>
            </a:r>
          </a:p>
          <a:p>
            <a:pPr marL="0" indent="0">
              <a:buFont typeface="Wingdings 3" charset="2"/>
              <a:buNone/>
            </a:pPr>
            <a:endParaRPr lang="it-IT" dirty="0"/>
          </a:p>
        </p:txBody>
      </p:sp>
      <p:sp>
        <p:nvSpPr>
          <p:cNvPr id="9" name="Segnaposto contenuto 2">
            <a:extLst>
              <a:ext uri="{FF2B5EF4-FFF2-40B4-BE49-F238E27FC236}">
                <a16:creationId xmlns:a16="http://schemas.microsoft.com/office/drawing/2014/main" id="{058AAC17-44C7-46C9-846C-ACC9953C05A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457200" y="1231741"/>
            <a:ext cx="4038600" cy="1828800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it-IT" sz="2900" b="1" i="1" dirty="0" smtClean="0">
                <a:solidFill>
                  <a:prstClr val="black"/>
                </a:solidFill>
                <a:cs typeface="Times New Roman" panose="02020603050405020304" pitchFamily="18" charset="0"/>
              </a:rPr>
              <a:t>Word Map</a:t>
            </a:r>
            <a:r>
              <a:rPr lang="it-IT" sz="2900" b="1" i="1" dirty="0">
                <a:solidFill>
                  <a:prstClr val="black"/>
                </a:solidFill>
                <a:cs typeface="Times New Roman" panose="02020603050405020304" pitchFamily="18" charset="0"/>
              </a:rPr>
              <a:t>:</a:t>
            </a:r>
          </a:p>
          <a:p>
            <a:pPr marL="0" indent="0">
              <a:buNone/>
            </a:pPr>
            <a:r>
              <a:rPr lang="it-IT" sz="1900" dirty="0">
                <a:solidFill>
                  <a:prstClr val="black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cs typeface="Times New Roman" panose="02020603050405020304" pitchFamily="18" charset="0"/>
              </a:rPr>
              <a:t/>
            </a:r>
            <a:br>
              <a:rPr lang="it-IT" sz="1900" dirty="0">
                <a:solidFill>
                  <a:prstClr val="black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cs typeface="Times New Roman" panose="02020603050405020304" pitchFamily="18" charset="0"/>
              </a:rPr>
            </a:br>
            <a:r>
              <a:rPr lang="it-IT" sz="1900" dirty="0" smtClean="0">
                <a:solidFill>
                  <a:prstClr val="black"/>
                </a:solidFill>
                <a:cs typeface="Times New Roman" panose="02020603050405020304" pitchFamily="18" charset="0"/>
              </a:rPr>
              <a:t>per ciascuna parola relativa ad un sentimento viene generata una mappa relativa alla frequenza nei tweet</a:t>
            </a:r>
            <a:endParaRPr lang="it-IT" sz="1900" dirty="0">
              <a:solidFill>
                <a:prstClr val="black"/>
              </a:solidFill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9276248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magine 1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628851"/>
            <a:ext cx="12333646" cy="6440166"/>
          </a:xfrm>
          <a:prstGeom prst="rect">
            <a:avLst/>
          </a:prstGeom>
        </p:spPr>
      </p:pic>
      <p:sp>
        <p:nvSpPr>
          <p:cNvPr id="4" name="Titolo 1"/>
          <p:cNvSpPr>
            <a:spLocks noGrp="1"/>
          </p:cNvSpPr>
          <p:nvPr>
            <p:ph type="title"/>
          </p:nvPr>
        </p:nvSpPr>
        <p:spPr>
          <a:xfrm>
            <a:off x="1606062" y="0"/>
            <a:ext cx="8299938" cy="1320800"/>
          </a:xfrm>
        </p:spPr>
        <p:txBody>
          <a:bodyPr>
            <a:normAutofit/>
          </a:bodyPr>
          <a:lstStyle/>
          <a:p>
            <a:pPr algn="ctr"/>
            <a:r>
              <a:rPr lang="it-IT" dirty="0" smtClean="0"/>
              <a:t>Schema delle librerie utilizzate</a:t>
            </a:r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153417905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/>
          <p:cNvSpPr>
            <a:spLocks noGrp="1"/>
          </p:cNvSpPr>
          <p:nvPr>
            <p:ph type="title"/>
          </p:nvPr>
        </p:nvSpPr>
        <p:spPr>
          <a:xfrm>
            <a:off x="1799773" y="161335"/>
            <a:ext cx="6681408" cy="783771"/>
          </a:xfrm>
        </p:spPr>
        <p:txBody>
          <a:bodyPr>
            <a:normAutofit fontScale="90000"/>
          </a:bodyPr>
          <a:lstStyle/>
          <a:p>
            <a:r>
              <a:rPr lang="it-IT" dirty="0" smtClean="0"/>
              <a:t>PRINCIPALI LIBRERIE UTILIZZATE</a:t>
            </a:r>
            <a:endParaRPr lang="it-IT" dirty="0"/>
          </a:p>
        </p:txBody>
      </p:sp>
      <p:graphicFrame>
        <p:nvGraphicFramePr>
          <p:cNvPr id="4" name="Tabella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79185739"/>
              </p:ext>
            </p:extLst>
          </p:nvPr>
        </p:nvGraphicFramePr>
        <p:xfrm>
          <a:off x="1393373" y="986971"/>
          <a:ext cx="9327846" cy="5501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30361">
                  <a:extLst>
                    <a:ext uri="{9D8B030D-6E8A-4147-A177-3AD203B41FA5}">
                      <a16:colId xmlns:a16="http://schemas.microsoft.com/office/drawing/2014/main" val="2877867300"/>
                    </a:ext>
                  </a:extLst>
                </a:gridCol>
                <a:gridCol w="2946400">
                  <a:extLst>
                    <a:ext uri="{9D8B030D-6E8A-4147-A177-3AD203B41FA5}">
                      <a16:colId xmlns:a16="http://schemas.microsoft.com/office/drawing/2014/main" val="674584734"/>
                    </a:ext>
                  </a:extLst>
                </a:gridCol>
                <a:gridCol w="4151085">
                  <a:extLst>
                    <a:ext uri="{9D8B030D-6E8A-4147-A177-3AD203B41FA5}">
                      <a16:colId xmlns:a16="http://schemas.microsoft.com/office/drawing/2014/main" val="207423356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it-IT" dirty="0" smtClean="0"/>
                        <a:t>Nome</a:t>
                      </a:r>
                      <a:endParaRPr lang="it-IT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dirty="0" smtClean="0"/>
                        <a:t>Scopo </a:t>
                      </a:r>
                      <a:endParaRPr lang="it-IT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dirty="0" smtClean="0"/>
                        <a:t>Riferimento</a:t>
                      </a:r>
                      <a:endParaRPr lang="it-IT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906170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it-IT" dirty="0" smtClean="0"/>
                        <a:t>wordcloud</a:t>
                      </a:r>
                      <a:endParaRPr lang="it-IT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 smtClean="0"/>
                        <a:t>Generatore</a:t>
                      </a:r>
                      <a:r>
                        <a:rPr lang="it-IT" baseline="0" dirty="0" smtClean="0"/>
                        <a:t> di word cloud</a:t>
                      </a:r>
                      <a:endParaRPr lang="it-IT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 smtClean="0">
                          <a:solidFill>
                            <a:schemeClr val="tx1"/>
                          </a:solidFill>
                          <a:hlinkClick r:id="rId2"/>
                        </a:rPr>
                        <a:t>https://pypi.org/project/wordcloud/</a:t>
                      </a:r>
                      <a:endParaRPr lang="it-IT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5244965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it-IT" dirty="0" smtClean="0"/>
                        <a:t>pymongo</a:t>
                      </a:r>
                      <a:endParaRPr lang="it-IT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 smtClean="0"/>
                        <a:t>Utilizzo di MongoDB</a:t>
                      </a:r>
                      <a:r>
                        <a:rPr lang="it-IT" baseline="0" dirty="0" smtClean="0"/>
                        <a:t> in ambiente Python</a:t>
                      </a:r>
                      <a:endParaRPr lang="it-IT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 smtClean="0">
                          <a:solidFill>
                            <a:schemeClr val="tx1"/>
                          </a:solidFill>
                          <a:hlinkClick r:id="rId3"/>
                        </a:rPr>
                        <a:t>https://api.mongodb.com/python/current/tutorial.html</a:t>
                      </a:r>
                      <a:endParaRPr lang="it-IT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6042335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it-IT" dirty="0" smtClean="0"/>
                        <a:t>mariadb</a:t>
                      </a:r>
                      <a:endParaRPr lang="it-IT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 smtClean="0"/>
                        <a:t>Utilizzo di MariaDB</a:t>
                      </a:r>
                      <a:r>
                        <a:rPr lang="it-IT" baseline="0" dirty="0" smtClean="0"/>
                        <a:t> in ambiente Python</a:t>
                      </a:r>
                      <a:endParaRPr lang="it-IT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 smtClean="0">
                          <a:solidFill>
                            <a:schemeClr val="tx1"/>
                          </a:solidFill>
                          <a:hlinkClick r:id="rId4"/>
                        </a:rPr>
                        <a:t>https://github.com/mariadb-corporation/mariadb-connector-python/wiki/usage.md</a:t>
                      </a:r>
                      <a:endParaRPr lang="it-IT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8666223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it-IT" dirty="0" smtClean="0"/>
                        <a:t>nltk</a:t>
                      </a:r>
                      <a:endParaRPr lang="it-IT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 smtClean="0"/>
                        <a:t>Tokenizzazione,</a:t>
                      </a:r>
                      <a:r>
                        <a:rPr lang="it-IT" baseline="0" dirty="0" smtClean="0"/>
                        <a:t> Pos tagging, Lemmatizzazione, </a:t>
                      </a:r>
                      <a:endParaRPr lang="it-IT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 smtClean="0">
                          <a:hlinkClick r:id="rId5"/>
                        </a:rPr>
                        <a:t>https://www.nltk.org/install.html</a:t>
                      </a:r>
                      <a:endParaRPr lang="it-IT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2378457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it-IT" dirty="0" smtClean="0"/>
                        <a:t>emoji</a:t>
                      </a:r>
                      <a:endParaRPr lang="it-IT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 smtClean="0"/>
                        <a:t>Gestione degli</a:t>
                      </a:r>
                      <a:r>
                        <a:rPr lang="it-IT" baseline="0" dirty="0" smtClean="0"/>
                        <a:t> emoji durante il processing dei tweet</a:t>
                      </a:r>
                      <a:endParaRPr lang="it-IT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 smtClean="0">
                          <a:hlinkClick r:id="rId6"/>
                        </a:rPr>
                        <a:t>https://github.com/carpedm20/emoji/</a:t>
                      </a:r>
                      <a:endParaRPr lang="it-IT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4368017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it-IT" dirty="0" smtClean="0"/>
                        <a:t>threading</a:t>
                      </a:r>
                      <a:endParaRPr lang="it-IT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 smtClean="0"/>
                        <a:t>Gestione elaborazione</a:t>
                      </a:r>
                      <a:r>
                        <a:rPr lang="it-IT" baseline="0" dirty="0" smtClean="0"/>
                        <a:t> distribuita degli shard</a:t>
                      </a:r>
                      <a:endParaRPr lang="it-IT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 smtClean="0">
                          <a:hlinkClick r:id="rId7"/>
                        </a:rPr>
                        <a:t>https://docs.python.org/3/library/threading.html</a:t>
                      </a:r>
                      <a:endParaRPr lang="it-IT" dirty="0" smtClean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608363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it-IT" dirty="0" smtClean="0"/>
                        <a:t>requests</a:t>
                      </a:r>
                      <a:endParaRPr lang="it-IT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 smtClean="0"/>
                        <a:t>Gestione richieste http</a:t>
                      </a:r>
                      <a:endParaRPr lang="it-IT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 smtClean="0">
                          <a:hlinkClick r:id="rId8"/>
                        </a:rPr>
                        <a:t>https://pypi.org/project/requests/</a:t>
                      </a:r>
                      <a:endParaRPr lang="it-IT" dirty="0" smtClean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8805344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it-IT" dirty="0" smtClean="0"/>
                        <a:t>re</a:t>
                      </a:r>
                      <a:endParaRPr lang="it-IT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 smtClean="0"/>
                        <a:t>Utilizzo di espressioni regolari</a:t>
                      </a:r>
                      <a:endParaRPr lang="it-IT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 smtClean="0">
                          <a:hlinkClick r:id="rId9"/>
                        </a:rPr>
                        <a:t>https://docs.python.org/3/library/re.html</a:t>
                      </a:r>
                      <a:endParaRPr lang="it-IT" dirty="0" smtClean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63736797"/>
                  </a:ext>
                </a:extLst>
              </a:tr>
            </a:tbl>
          </a:graphicData>
        </a:graphic>
      </p:graphicFrame>
      <p:pic>
        <p:nvPicPr>
          <p:cNvPr id="6" name="Immagine 5"/>
          <p:cNvPicPr>
            <a:picLocks noChangeAspect="1"/>
          </p:cNvPicPr>
          <p:nvPr/>
        </p:nvPicPr>
        <p:blipFill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74781" y="92928"/>
            <a:ext cx="2310190" cy="8103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9320613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it-IT" dirty="0" smtClean="0"/>
              <a:t>Word cloud dei tweet</a:t>
            </a:r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186985739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magine 3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412592"/>
            <a:ext cx="7152209" cy="5343050"/>
          </a:xfrm>
          <a:prstGeom prst="rect">
            <a:avLst/>
          </a:prstGeom>
        </p:spPr>
      </p:pic>
      <p:sp>
        <p:nvSpPr>
          <p:cNvPr id="6" name="CasellaDiTesto 5"/>
          <p:cNvSpPr txBox="1"/>
          <p:nvPr/>
        </p:nvSpPr>
        <p:spPr>
          <a:xfrm>
            <a:off x="3875964" y="232012"/>
            <a:ext cx="416256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sz="5400" dirty="0" smtClean="0">
                <a:solidFill>
                  <a:srgbClr val="5FCBEF"/>
                </a:solidFill>
                <a:ea typeface="+mj-ea"/>
                <a:cs typeface="+mj-cs"/>
              </a:rPr>
              <a:t>Anger</a:t>
            </a:r>
            <a:endParaRPr lang="it-IT" dirty="0"/>
          </a:p>
        </p:txBody>
      </p:sp>
      <p:sp>
        <p:nvSpPr>
          <p:cNvPr id="8" name="CasellaDiTesto 7"/>
          <p:cNvSpPr txBox="1"/>
          <p:nvPr/>
        </p:nvSpPr>
        <p:spPr>
          <a:xfrm>
            <a:off x="7861111" y="1412592"/>
            <a:ext cx="414891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sz="2800" dirty="0" smtClean="0">
                <a:solidFill>
                  <a:srgbClr val="FF0000"/>
                </a:solidFill>
              </a:rPr>
              <a:t>Termini più frequenti</a:t>
            </a:r>
            <a:endParaRPr lang="it-IT" sz="2800" dirty="0">
              <a:solidFill>
                <a:srgbClr val="FF0000"/>
              </a:solidFill>
            </a:endParaRPr>
          </a:p>
        </p:txBody>
      </p:sp>
      <p:sp>
        <p:nvSpPr>
          <p:cNvPr id="9" name="CasellaDiTesto 8"/>
          <p:cNvSpPr txBox="1"/>
          <p:nvPr/>
        </p:nvSpPr>
        <p:spPr>
          <a:xfrm>
            <a:off x="8297839" y="2060812"/>
            <a:ext cx="3411940" cy="37856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sz="2400" dirty="0" smtClean="0"/>
              <a:t>Hate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sz="2400" dirty="0" smtClean="0"/>
              <a:t>Fuck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sz="2400" dirty="0" smtClean="0"/>
              <a:t>Shit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sz="2400" dirty="0" smtClean="0"/>
              <a:t>#fuckyou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sz="2400" dirty="0" smtClean="0"/>
              <a:t>#annoying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sz="2400" dirty="0" smtClean="0"/>
              <a:t>Bitch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sz="2400" dirty="0" smtClean="0"/>
              <a:t>Mad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it-IT" sz="2400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it-IT" sz="2400" dirty="0" smtClean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it-IT" sz="2400" dirty="0"/>
          </a:p>
        </p:txBody>
      </p:sp>
    </p:spTree>
    <p:extLst>
      <p:ext uri="{BB962C8B-B14F-4D97-AF65-F5344CB8AC3E}">
        <p14:creationId xmlns:p14="http://schemas.microsoft.com/office/powerpoint/2010/main" val="235768843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asellaDiTesto 5"/>
          <p:cNvSpPr txBox="1"/>
          <p:nvPr/>
        </p:nvSpPr>
        <p:spPr>
          <a:xfrm>
            <a:off x="3875964" y="232012"/>
            <a:ext cx="416256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sz="5400" dirty="0" smtClean="0">
                <a:solidFill>
                  <a:srgbClr val="5FCBEF"/>
                </a:solidFill>
                <a:ea typeface="+mj-ea"/>
                <a:cs typeface="+mj-cs"/>
              </a:rPr>
              <a:t>Anticipation</a:t>
            </a:r>
            <a:endParaRPr lang="it-IT" dirty="0"/>
          </a:p>
        </p:txBody>
      </p:sp>
      <p:sp>
        <p:nvSpPr>
          <p:cNvPr id="8" name="CasellaDiTesto 7"/>
          <p:cNvSpPr txBox="1"/>
          <p:nvPr/>
        </p:nvSpPr>
        <p:spPr>
          <a:xfrm>
            <a:off x="7861111" y="1412592"/>
            <a:ext cx="414891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sz="2800" dirty="0" smtClean="0">
                <a:solidFill>
                  <a:srgbClr val="FF0000"/>
                </a:solidFill>
              </a:rPr>
              <a:t>Termini più frequenti</a:t>
            </a:r>
            <a:endParaRPr lang="it-IT" sz="2800" dirty="0">
              <a:solidFill>
                <a:srgbClr val="FF0000"/>
              </a:solidFill>
            </a:endParaRPr>
          </a:p>
        </p:txBody>
      </p:sp>
      <p:sp>
        <p:nvSpPr>
          <p:cNvPr id="9" name="CasellaDiTesto 8"/>
          <p:cNvSpPr txBox="1"/>
          <p:nvPr/>
        </p:nvSpPr>
        <p:spPr>
          <a:xfrm>
            <a:off x="8297839" y="2060812"/>
            <a:ext cx="3411940" cy="37856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sz="2400" dirty="0" smtClean="0"/>
              <a:t>#Excited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sz="2400" dirty="0" smtClean="0"/>
              <a:t>#cantwait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sz="2400" dirty="0" smtClean="0"/>
              <a:t>Tomorrow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sz="2400" dirty="0" smtClean="0"/>
              <a:t>Tonight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sz="2400" dirty="0" smtClean="0"/>
              <a:t>#soexcited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sz="2400" dirty="0" smtClean="0"/>
              <a:t>#waiting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it-IT" sz="2400" dirty="0" smtClean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it-IT" sz="2400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it-IT" sz="2400" dirty="0" smtClean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it-IT" sz="2400" dirty="0"/>
          </a:p>
        </p:txBody>
      </p:sp>
      <p:pic>
        <p:nvPicPr>
          <p:cNvPr id="2" name="Immagine 1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412592"/>
            <a:ext cx="7152209" cy="53430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8906457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asellaDiTesto 5"/>
          <p:cNvSpPr txBox="1"/>
          <p:nvPr/>
        </p:nvSpPr>
        <p:spPr>
          <a:xfrm>
            <a:off x="3875964" y="232012"/>
            <a:ext cx="416256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sz="5400" dirty="0" smtClean="0">
                <a:solidFill>
                  <a:srgbClr val="5FCBEF"/>
                </a:solidFill>
                <a:ea typeface="+mj-ea"/>
                <a:cs typeface="+mj-cs"/>
              </a:rPr>
              <a:t>Disgust</a:t>
            </a:r>
            <a:endParaRPr lang="it-IT" dirty="0"/>
          </a:p>
        </p:txBody>
      </p:sp>
      <p:sp>
        <p:nvSpPr>
          <p:cNvPr id="8" name="CasellaDiTesto 7"/>
          <p:cNvSpPr txBox="1"/>
          <p:nvPr/>
        </p:nvSpPr>
        <p:spPr>
          <a:xfrm>
            <a:off x="7861111" y="1412592"/>
            <a:ext cx="414891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sz="2800" dirty="0" smtClean="0">
                <a:solidFill>
                  <a:srgbClr val="FF0000"/>
                </a:solidFill>
              </a:rPr>
              <a:t>Termini più frequenti</a:t>
            </a:r>
            <a:endParaRPr lang="it-IT" sz="2800" dirty="0">
              <a:solidFill>
                <a:srgbClr val="FF0000"/>
              </a:solidFill>
            </a:endParaRPr>
          </a:p>
        </p:txBody>
      </p:sp>
      <p:sp>
        <p:nvSpPr>
          <p:cNvPr id="9" name="CasellaDiTesto 8"/>
          <p:cNvSpPr txBox="1"/>
          <p:nvPr/>
        </p:nvSpPr>
        <p:spPr>
          <a:xfrm>
            <a:off x="8297839" y="2060812"/>
            <a:ext cx="3411940" cy="30469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sz="2400" dirty="0" smtClean="0"/>
              <a:t>Fuck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sz="2400" dirty="0" smtClean="0"/>
              <a:t>Shit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sz="2400" dirty="0" smtClean="0"/>
              <a:t>Work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sz="2400" dirty="0" smtClean="0"/>
              <a:t>Hate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sz="2400" dirty="0" smtClean="0"/>
              <a:t>#bored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sz="2400" dirty="0" smtClean="0"/>
              <a:t>Bad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sz="2400" dirty="0" smtClean="0"/>
              <a:t>Nigga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it-IT" sz="2400" dirty="0" smtClean="0"/>
          </a:p>
        </p:txBody>
      </p:sp>
      <p:pic>
        <p:nvPicPr>
          <p:cNvPr id="3" name="Immagine 2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412592"/>
            <a:ext cx="7289226" cy="54454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5134501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asellaDiTesto 5"/>
          <p:cNvSpPr txBox="1"/>
          <p:nvPr/>
        </p:nvSpPr>
        <p:spPr>
          <a:xfrm>
            <a:off x="3875964" y="232012"/>
            <a:ext cx="416256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sz="5400" dirty="0" smtClean="0">
                <a:solidFill>
                  <a:srgbClr val="5FCBEF"/>
                </a:solidFill>
                <a:ea typeface="+mj-ea"/>
                <a:cs typeface="+mj-cs"/>
              </a:rPr>
              <a:t>Fear</a:t>
            </a:r>
            <a:endParaRPr lang="it-IT" dirty="0"/>
          </a:p>
        </p:txBody>
      </p:sp>
      <p:sp>
        <p:nvSpPr>
          <p:cNvPr id="8" name="CasellaDiTesto 7"/>
          <p:cNvSpPr txBox="1"/>
          <p:nvPr/>
        </p:nvSpPr>
        <p:spPr>
          <a:xfrm>
            <a:off x="7861111" y="1412592"/>
            <a:ext cx="414891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sz="2800" dirty="0" smtClean="0">
                <a:solidFill>
                  <a:srgbClr val="FF0000"/>
                </a:solidFill>
              </a:rPr>
              <a:t>Termini più frequenti</a:t>
            </a:r>
            <a:endParaRPr lang="it-IT" sz="2800" dirty="0">
              <a:solidFill>
                <a:srgbClr val="FF0000"/>
              </a:solidFill>
            </a:endParaRPr>
          </a:p>
        </p:txBody>
      </p:sp>
      <p:sp>
        <p:nvSpPr>
          <p:cNvPr id="9" name="CasellaDiTesto 8"/>
          <p:cNvSpPr txBox="1"/>
          <p:nvPr/>
        </p:nvSpPr>
        <p:spPr>
          <a:xfrm>
            <a:off x="8297838" y="2060812"/>
            <a:ext cx="3575713" cy="45243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sz="2400" dirty="0" smtClean="0"/>
              <a:t>Love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sz="2400" dirty="0" smtClean="0"/>
              <a:t>Happy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sz="2400" dirty="0" smtClean="0"/>
              <a:t>Best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sz="2400" dirty="0" smtClean="0"/>
              <a:t>#awkaward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sz="2400" dirty="0" smtClean="0"/>
              <a:t>#scared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sz="2400" dirty="0" smtClean="0"/>
              <a:t>#decisions</a:t>
            </a:r>
            <a:endParaRPr lang="it-IT" sz="24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sz="2400" dirty="0" smtClean="0"/>
              <a:t>#awk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sz="2400" dirty="0" smtClean="0"/>
              <a:t>#thatawkwardmoment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it-IT" sz="2400" dirty="0" smtClean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it-IT" sz="2400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it-IT" sz="2400" dirty="0" smtClean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it-IT" sz="2400" dirty="0"/>
          </a:p>
        </p:txBody>
      </p:sp>
      <p:pic>
        <p:nvPicPr>
          <p:cNvPr id="2" name="Immagine 1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412592"/>
            <a:ext cx="7289226" cy="54454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42922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asellaDiTesto 5"/>
          <p:cNvSpPr txBox="1"/>
          <p:nvPr/>
        </p:nvSpPr>
        <p:spPr>
          <a:xfrm>
            <a:off x="3875964" y="232012"/>
            <a:ext cx="416256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sz="5400" dirty="0" smtClean="0">
                <a:solidFill>
                  <a:srgbClr val="5FCBEF"/>
                </a:solidFill>
                <a:ea typeface="+mj-ea"/>
                <a:cs typeface="+mj-cs"/>
              </a:rPr>
              <a:t>Joy</a:t>
            </a:r>
            <a:endParaRPr lang="it-IT" dirty="0"/>
          </a:p>
        </p:txBody>
      </p:sp>
      <p:sp>
        <p:nvSpPr>
          <p:cNvPr id="8" name="CasellaDiTesto 7"/>
          <p:cNvSpPr txBox="1"/>
          <p:nvPr/>
        </p:nvSpPr>
        <p:spPr>
          <a:xfrm>
            <a:off x="7861111" y="1412592"/>
            <a:ext cx="414891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sz="2800" dirty="0" smtClean="0">
                <a:solidFill>
                  <a:srgbClr val="FF0000"/>
                </a:solidFill>
              </a:rPr>
              <a:t>Termini più frequenti</a:t>
            </a:r>
            <a:endParaRPr lang="it-IT" sz="2800" dirty="0">
              <a:solidFill>
                <a:srgbClr val="FF0000"/>
              </a:solidFill>
            </a:endParaRPr>
          </a:p>
        </p:txBody>
      </p:sp>
      <p:sp>
        <p:nvSpPr>
          <p:cNvPr id="9" name="CasellaDiTesto 8"/>
          <p:cNvSpPr txBox="1"/>
          <p:nvPr/>
        </p:nvSpPr>
        <p:spPr>
          <a:xfrm>
            <a:off x="8297839" y="2060812"/>
            <a:ext cx="3411940" cy="489364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sz="2400" dirty="0" smtClean="0"/>
              <a:t>Laugh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sz="2400" dirty="0" smtClean="0"/>
              <a:t>Love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sz="2400" dirty="0" smtClean="0"/>
              <a:t>Good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sz="2400" dirty="0" smtClean="0"/>
              <a:t>Happy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sz="2400" dirty="0" smtClean="0"/>
              <a:t>#love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sz="2400" dirty="0" smtClean="0"/>
              <a:t>Birthday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sz="2400" dirty="0"/>
              <a:t>G</a:t>
            </a:r>
            <a:r>
              <a:rPr lang="it-IT" sz="2400" dirty="0" smtClean="0"/>
              <a:t>reat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sz="2400" dirty="0" smtClean="0"/>
              <a:t>Nice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sz="2400" dirty="0"/>
              <a:t>F</a:t>
            </a:r>
            <a:r>
              <a:rPr lang="it-IT" sz="2400" dirty="0" smtClean="0"/>
              <a:t>unny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it-IT" sz="2400" dirty="0" smtClean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it-IT" sz="2400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it-IT" sz="2400" dirty="0" smtClean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it-IT" sz="2400" dirty="0"/>
          </a:p>
        </p:txBody>
      </p:sp>
      <p:pic>
        <p:nvPicPr>
          <p:cNvPr id="2" name="Immagine 1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9205" y="1412592"/>
            <a:ext cx="7264235" cy="54267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0384497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asellaDiTesto 5"/>
          <p:cNvSpPr txBox="1"/>
          <p:nvPr/>
        </p:nvSpPr>
        <p:spPr>
          <a:xfrm>
            <a:off x="3875964" y="232012"/>
            <a:ext cx="416256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sz="5400" dirty="0" smtClean="0">
                <a:solidFill>
                  <a:srgbClr val="5FCBEF"/>
                </a:solidFill>
                <a:ea typeface="+mj-ea"/>
                <a:cs typeface="+mj-cs"/>
              </a:rPr>
              <a:t>Sadness</a:t>
            </a:r>
            <a:endParaRPr lang="it-IT" dirty="0"/>
          </a:p>
        </p:txBody>
      </p:sp>
      <p:sp>
        <p:nvSpPr>
          <p:cNvPr id="8" name="CasellaDiTesto 7"/>
          <p:cNvSpPr txBox="1"/>
          <p:nvPr/>
        </p:nvSpPr>
        <p:spPr>
          <a:xfrm>
            <a:off x="7861111" y="1412592"/>
            <a:ext cx="414891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sz="2800" dirty="0" smtClean="0">
                <a:solidFill>
                  <a:srgbClr val="FF0000"/>
                </a:solidFill>
              </a:rPr>
              <a:t>Termini più frequenti</a:t>
            </a:r>
            <a:endParaRPr lang="it-IT" sz="2800" dirty="0">
              <a:solidFill>
                <a:srgbClr val="FF0000"/>
              </a:solidFill>
            </a:endParaRPr>
          </a:p>
        </p:txBody>
      </p:sp>
      <p:sp>
        <p:nvSpPr>
          <p:cNvPr id="9" name="CasellaDiTesto 8"/>
          <p:cNvSpPr txBox="1"/>
          <p:nvPr/>
        </p:nvSpPr>
        <p:spPr>
          <a:xfrm>
            <a:off x="8297839" y="2060812"/>
            <a:ext cx="3411940" cy="3416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sz="2400" dirty="0" smtClean="0"/>
              <a:t>Laugh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sz="2400" dirty="0" smtClean="0"/>
              <a:t>Feel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sz="2400" dirty="0" smtClean="0"/>
              <a:t>Love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sz="2400" dirty="0" smtClean="0"/>
              <a:t>Bad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sz="2400" dirty="0" smtClean="0"/>
              <a:t>Cry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sz="2400" dirty="0" smtClean="0"/>
              <a:t>Hate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sz="2400" dirty="0" smtClean="0"/>
              <a:t>Leave</a:t>
            </a:r>
            <a:endParaRPr lang="it-IT" sz="24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sz="2400" dirty="0" smtClean="0"/>
              <a:t>Sad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sz="2400" dirty="0" smtClean="0"/>
              <a:t>#</a:t>
            </a:r>
            <a:r>
              <a:rPr lang="it-IT" sz="2400" dirty="0" err="1" smtClean="0"/>
              <a:t>sadtweet</a:t>
            </a:r>
            <a:endParaRPr lang="it-IT" sz="2400" dirty="0" smtClean="0"/>
          </a:p>
        </p:txBody>
      </p:sp>
      <p:pic>
        <p:nvPicPr>
          <p:cNvPr id="2" name="Immagine 1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412592"/>
            <a:ext cx="7289226" cy="54454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880263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asellaDiTesto 5"/>
          <p:cNvSpPr txBox="1"/>
          <p:nvPr/>
        </p:nvSpPr>
        <p:spPr>
          <a:xfrm>
            <a:off x="3875964" y="232012"/>
            <a:ext cx="416256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sz="5400" dirty="0" smtClean="0">
                <a:solidFill>
                  <a:srgbClr val="5FCBEF"/>
                </a:solidFill>
                <a:ea typeface="+mj-ea"/>
                <a:cs typeface="+mj-cs"/>
              </a:rPr>
              <a:t>Surprise</a:t>
            </a:r>
            <a:endParaRPr lang="it-IT" dirty="0"/>
          </a:p>
        </p:txBody>
      </p:sp>
      <p:sp>
        <p:nvSpPr>
          <p:cNvPr id="8" name="CasellaDiTesto 7"/>
          <p:cNvSpPr txBox="1"/>
          <p:nvPr/>
        </p:nvSpPr>
        <p:spPr>
          <a:xfrm>
            <a:off x="7861111" y="1412592"/>
            <a:ext cx="414891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sz="2800" dirty="0" smtClean="0">
                <a:solidFill>
                  <a:srgbClr val="FF0000"/>
                </a:solidFill>
              </a:rPr>
              <a:t>Termini più frequenti</a:t>
            </a:r>
            <a:endParaRPr lang="it-IT" sz="2800" dirty="0">
              <a:solidFill>
                <a:srgbClr val="FF0000"/>
              </a:solidFill>
            </a:endParaRPr>
          </a:p>
        </p:txBody>
      </p:sp>
      <p:sp>
        <p:nvSpPr>
          <p:cNvPr id="9" name="CasellaDiTesto 8"/>
          <p:cNvSpPr txBox="1"/>
          <p:nvPr/>
        </p:nvSpPr>
        <p:spPr>
          <a:xfrm>
            <a:off x="8297839" y="2060812"/>
            <a:ext cx="3411940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sz="2400" dirty="0" smtClean="0"/>
              <a:t>#wtf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sz="2400" dirty="0" smtClean="0"/>
              <a:t>#weird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sz="2400" dirty="0" smtClean="0"/>
              <a:t>#wow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sz="2400" dirty="0" smtClean="0"/>
              <a:t>#omg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sz="2400" dirty="0" smtClean="0"/>
              <a:t>#random</a:t>
            </a:r>
            <a:endParaRPr lang="it-IT" sz="24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sz="2400" dirty="0" smtClean="0"/>
              <a:t>#</a:t>
            </a:r>
            <a:r>
              <a:rPr lang="it-IT" sz="2400" dirty="0" err="1" smtClean="0"/>
              <a:t>crazy</a:t>
            </a:r>
            <a:endParaRPr lang="it-IT" sz="2400" dirty="0" smtClean="0"/>
          </a:p>
        </p:txBody>
      </p:sp>
      <p:pic>
        <p:nvPicPr>
          <p:cNvPr id="2" name="Immagine 1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358883"/>
            <a:ext cx="7361120" cy="54991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5637730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asellaDiTesto 5"/>
          <p:cNvSpPr txBox="1"/>
          <p:nvPr/>
        </p:nvSpPr>
        <p:spPr>
          <a:xfrm>
            <a:off x="3875964" y="232012"/>
            <a:ext cx="416256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sz="5400" dirty="0" smtClean="0">
                <a:solidFill>
                  <a:srgbClr val="5FCBEF"/>
                </a:solidFill>
                <a:ea typeface="+mj-ea"/>
                <a:cs typeface="+mj-cs"/>
              </a:rPr>
              <a:t>Trust</a:t>
            </a:r>
            <a:endParaRPr lang="it-IT" dirty="0"/>
          </a:p>
        </p:txBody>
      </p:sp>
      <p:sp>
        <p:nvSpPr>
          <p:cNvPr id="8" name="CasellaDiTesto 7"/>
          <p:cNvSpPr txBox="1"/>
          <p:nvPr/>
        </p:nvSpPr>
        <p:spPr>
          <a:xfrm>
            <a:off x="7861111" y="1412592"/>
            <a:ext cx="414891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sz="2800" dirty="0" smtClean="0">
                <a:solidFill>
                  <a:srgbClr val="FF0000"/>
                </a:solidFill>
              </a:rPr>
              <a:t>Termini più frequenti</a:t>
            </a:r>
            <a:endParaRPr lang="it-IT" sz="2800" dirty="0">
              <a:solidFill>
                <a:srgbClr val="FF0000"/>
              </a:solidFill>
            </a:endParaRPr>
          </a:p>
        </p:txBody>
      </p:sp>
      <p:sp>
        <p:nvSpPr>
          <p:cNvPr id="9" name="CasellaDiTesto 8"/>
          <p:cNvSpPr txBox="1"/>
          <p:nvPr/>
        </p:nvSpPr>
        <p:spPr>
          <a:xfrm>
            <a:off x="8297839" y="2060812"/>
            <a:ext cx="3411940" cy="3416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sz="2400" dirty="0" smtClean="0"/>
              <a:t>Love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sz="2400" dirty="0" smtClean="0"/>
              <a:t>Happy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sz="2400" dirty="0" smtClean="0"/>
              <a:t>Birthday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sz="2400" dirty="0" smtClean="0"/>
              <a:t>Hope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sz="2400" dirty="0" smtClean="0"/>
              <a:t>Best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sz="2400" dirty="0" smtClean="0"/>
              <a:t>Sweet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sz="2400" dirty="0" smtClean="0"/>
              <a:t>#love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sz="2400" dirty="0" smtClean="0"/>
              <a:t>Mom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sz="2400" dirty="0" err="1" smtClean="0"/>
              <a:t>Forever</a:t>
            </a:r>
            <a:endParaRPr lang="it-IT" sz="2400" dirty="0" smtClean="0"/>
          </a:p>
        </p:txBody>
      </p:sp>
      <p:pic>
        <p:nvPicPr>
          <p:cNvPr id="2" name="Immagine 1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412592"/>
            <a:ext cx="7287904" cy="54444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6197261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asellaDiTesto 5"/>
          <p:cNvSpPr txBox="1"/>
          <p:nvPr/>
        </p:nvSpPr>
        <p:spPr>
          <a:xfrm>
            <a:off x="3875964" y="232012"/>
            <a:ext cx="416256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sz="5400" dirty="0" smtClean="0">
                <a:solidFill>
                  <a:srgbClr val="5FCBEF"/>
                </a:solidFill>
                <a:ea typeface="+mj-ea"/>
                <a:cs typeface="+mj-cs"/>
              </a:rPr>
              <a:t>Anger</a:t>
            </a:r>
            <a:endParaRPr lang="it-IT" dirty="0"/>
          </a:p>
        </p:txBody>
      </p:sp>
      <p:pic>
        <p:nvPicPr>
          <p:cNvPr id="2" name="Immagine 1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00309" y="1155342"/>
            <a:ext cx="7313875" cy="54638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904017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asellaDiTesto 5"/>
          <p:cNvSpPr txBox="1"/>
          <p:nvPr/>
        </p:nvSpPr>
        <p:spPr>
          <a:xfrm>
            <a:off x="3875964" y="232012"/>
            <a:ext cx="416256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sz="5400" dirty="0" smtClean="0">
                <a:solidFill>
                  <a:srgbClr val="5FCBEF"/>
                </a:solidFill>
                <a:ea typeface="+mj-ea"/>
                <a:cs typeface="+mj-cs"/>
              </a:rPr>
              <a:t>Anticipation</a:t>
            </a:r>
            <a:endParaRPr lang="it-IT" dirty="0"/>
          </a:p>
        </p:txBody>
      </p:sp>
      <p:pic>
        <p:nvPicPr>
          <p:cNvPr id="2" name="Immagine 1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93854" y="1155342"/>
            <a:ext cx="7526785" cy="56228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1004094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asellaDiTesto 5"/>
          <p:cNvSpPr txBox="1"/>
          <p:nvPr/>
        </p:nvSpPr>
        <p:spPr>
          <a:xfrm>
            <a:off x="3875964" y="232012"/>
            <a:ext cx="416256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sz="5400" dirty="0" smtClean="0">
                <a:solidFill>
                  <a:srgbClr val="5FCBEF"/>
                </a:solidFill>
                <a:ea typeface="+mj-ea"/>
                <a:cs typeface="+mj-cs"/>
              </a:rPr>
              <a:t>Disgust</a:t>
            </a:r>
            <a:endParaRPr lang="it-IT" dirty="0"/>
          </a:p>
        </p:txBody>
      </p:sp>
      <p:pic>
        <p:nvPicPr>
          <p:cNvPr id="2" name="Immagine 1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50135" y="1155342"/>
            <a:ext cx="7414224" cy="55387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6471296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asellaDiTesto 5"/>
          <p:cNvSpPr txBox="1"/>
          <p:nvPr/>
        </p:nvSpPr>
        <p:spPr>
          <a:xfrm>
            <a:off x="3875964" y="232012"/>
            <a:ext cx="416256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sz="5400" dirty="0" smtClean="0">
                <a:solidFill>
                  <a:srgbClr val="5FCBEF"/>
                </a:solidFill>
                <a:ea typeface="+mj-ea"/>
                <a:cs typeface="+mj-cs"/>
              </a:rPr>
              <a:t>Fear</a:t>
            </a:r>
            <a:endParaRPr lang="it-IT" dirty="0"/>
          </a:p>
        </p:txBody>
      </p:sp>
      <p:pic>
        <p:nvPicPr>
          <p:cNvPr id="2" name="Immagine 1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41001" y="1155342"/>
            <a:ext cx="7432492" cy="55524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3056983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asellaDiTesto 5"/>
          <p:cNvSpPr txBox="1"/>
          <p:nvPr/>
        </p:nvSpPr>
        <p:spPr>
          <a:xfrm>
            <a:off x="3875964" y="232012"/>
            <a:ext cx="416256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sz="5400" dirty="0" smtClean="0">
                <a:solidFill>
                  <a:srgbClr val="5FCBEF"/>
                </a:solidFill>
                <a:ea typeface="+mj-ea"/>
                <a:cs typeface="+mj-cs"/>
              </a:rPr>
              <a:t>Anticipation</a:t>
            </a:r>
            <a:endParaRPr lang="it-IT" dirty="0"/>
          </a:p>
        </p:txBody>
      </p:sp>
      <p:pic>
        <p:nvPicPr>
          <p:cNvPr id="2" name="Immagine 1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18099" y="1155342"/>
            <a:ext cx="7485459" cy="55920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9434531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asellaDiTesto 5"/>
          <p:cNvSpPr txBox="1"/>
          <p:nvPr/>
        </p:nvSpPr>
        <p:spPr>
          <a:xfrm>
            <a:off x="3875964" y="232012"/>
            <a:ext cx="416256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sz="5400" dirty="0" smtClean="0">
                <a:solidFill>
                  <a:srgbClr val="5FCBEF"/>
                </a:solidFill>
                <a:ea typeface="+mj-ea"/>
                <a:cs typeface="+mj-cs"/>
              </a:rPr>
              <a:t>Sadness</a:t>
            </a:r>
            <a:endParaRPr lang="it-IT" dirty="0"/>
          </a:p>
        </p:txBody>
      </p:sp>
      <p:pic>
        <p:nvPicPr>
          <p:cNvPr id="3" name="Immagine 2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76515" y="1155342"/>
            <a:ext cx="7761463" cy="57981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4232516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asellaDiTesto 5"/>
          <p:cNvSpPr txBox="1"/>
          <p:nvPr/>
        </p:nvSpPr>
        <p:spPr>
          <a:xfrm>
            <a:off x="3875964" y="232012"/>
            <a:ext cx="416256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sz="5400" dirty="0" smtClean="0">
                <a:solidFill>
                  <a:srgbClr val="5FCBEF"/>
                </a:solidFill>
                <a:ea typeface="+mj-ea"/>
                <a:cs typeface="+mj-cs"/>
              </a:rPr>
              <a:t>Surprise</a:t>
            </a:r>
            <a:endParaRPr lang="it-IT" dirty="0"/>
          </a:p>
        </p:txBody>
      </p:sp>
      <p:pic>
        <p:nvPicPr>
          <p:cNvPr id="2" name="Immagine 1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40456" y="1155342"/>
            <a:ext cx="7633581" cy="57026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6060134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asellaDiTesto 5"/>
          <p:cNvSpPr txBox="1"/>
          <p:nvPr/>
        </p:nvSpPr>
        <p:spPr>
          <a:xfrm>
            <a:off x="3875964" y="232012"/>
            <a:ext cx="416256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sz="5400" dirty="0" smtClean="0">
                <a:solidFill>
                  <a:srgbClr val="5FCBEF"/>
                </a:solidFill>
                <a:ea typeface="+mj-ea"/>
                <a:cs typeface="+mj-cs"/>
              </a:rPr>
              <a:t>Trust</a:t>
            </a:r>
            <a:endParaRPr lang="it-IT" dirty="0"/>
          </a:p>
        </p:txBody>
      </p:sp>
      <p:pic>
        <p:nvPicPr>
          <p:cNvPr id="3" name="Immagine 2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54637" y="1155342"/>
            <a:ext cx="7405219" cy="55320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2292375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/>
          <p:cNvSpPr>
            <a:spLocks noGrp="1"/>
          </p:cNvSpPr>
          <p:nvPr>
            <p:ph type="title"/>
          </p:nvPr>
        </p:nvSpPr>
        <p:spPr>
          <a:xfrm>
            <a:off x="2369658" y="3343703"/>
            <a:ext cx="5245793" cy="610540"/>
          </a:xfrm>
        </p:spPr>
        <p:txBody>
          <a:bodyPr>
            <a:normAutofit fontScale="90000"/>
          </a:bodyPr>
          <a:lstStyle/>
          <a:p>
            <a:r>
              <a:rPr lang="it-IT" dirty="0" smtClean="0"/>
              <a:t>STATISTICHE REALIZZATE</a:t>
            </a:r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116305000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ttangolo 5"/>
          <p:cNvSpPr/>
          <p:nvPr/>
        </p:nvSpPr>
        <p:spPr>
          <a:xfrm>
            <a:off x="564108" y="269741"/>
            <a:ext cx="9262280" cy="70788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it-IT" sz="4000" dirty="0" smtClean="0">
                <a:solidFill>
                  <a:srgbClr val="5FCBEF"/>
                </a:solidFill>
                <a:ea typeface="+mj-ea"/>
                <a:cs typeface="+mj-cs"/>
              </a:rPr>
              <a:t>FREQUENZA DEI TERMINI CONTEGGIATI </a:t>
            </a:r>
            <a:endParaRPr lang="it-IT" dirty="0"/>
          </a:p>
        </p:txBody>
      </p:sp>
      <p:pic>
        <p:nvPicPr>
          <p:cNvPr id="8" name="Immagine 7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5659" y="1123322"/>
            <a:ext cx="8952932" cy="45487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6115082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/>
          <p:cNvSpPr>
            <a:spLocks noGrp="1"/>
          </p:cNvSpPr>
          <p:nvPr>
            <p:ph type="title"/>
          </p:nvPr>
        </p:nvSpPr>
        <p:spPr>
          <a:xfrm>
            <a:off x="1673621" y="145576"/>
            <a:ext cx="8596668" cy="1287439"/>
          </a:xfrm>
        </p:spPr>
        <p:txBody>
          <a:bodyPr>
            <a:normAutofit/>
          </a:bodyPr>
          <a:lstStyle/>
          <a:p>
            <a:pPr algn="ctr"/>
            <a:r>
              <a:rPr lang="it-IT" b="1" dirty="0" smtClean="0"/>
              <a:t>USO DELLE RISORSE LESSICALI</a:t>
            </a:r>
            <a:endParaRPr lang="it-IT" sz="4800" dirty="0"/>
          </a:p>
        </p:txBody>
      </p:sp>
      <p:pic>
        <p:nvPicPr>
          <p:cNvPr id="4" name="Immagine 3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78" r="161"/>
          <a:stretch/>
        </p:blipFill>
        <p:spPr>
          <a:xfrm>
            <a:off x="1345364" y="1156363"/>
            <a:ext cx="9253181" cy="2552700"/>
          </a:xfrm>
          <a:prstGeom prst="rect">
            <a:avLst/>
          </a:prstGeom>
        </p:spPr>
      </p:pic>
      <p:sp>
        <p:nvSpPr>
          <p:cNvPr id="3" name="CasellaDiTesto 2"/>
          <p:cNvSpPr txBox="1"/>
          <p:nvPr/>
        </p:nvSpPr>
        <p:spPr>
          <a:xfrm>
            <a:off x="1154624" y="4215539"/>
            <a:ext cx="10066149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 smtClean="0"/>
              <a:t>Analizzando grafico precedente, si è deciso di scartare le parole che hanno avuto una occorrenza inferiore a 10.</a:t>
            </a:r>
          </a:p>
          <a:p>
            <a:r>
              <a:rPr lang="it-IT" dirty="0" smtClean="0"/>
              <a:t>Il primo gruppo di colonne indica il rapporto tra tutte le parole conteggiate appartenenti a ciascuna risorsa con il totale delle parole conteggiate. Il secondo gruppo indica il rapporto tra le parole delle risorse conteggiate con il totale delle parole delle risorse.</a:t>
            </a:r>
          </a:p>
          <a:p>
            <a:r>
              <a:rPr lang="it-IT" dirty="0" smtClean="0"/>
              <a:t>L’ultima colonna indica le nuove parole trovate non appartenenti a ciascuna risorsa.</a:t>
            </a:r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281095376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egnaposto contenuto 2"/>
          <p:cNvSpPr>
            <a:spLocks noGrp="1"/>
          </p:cNvSpPr>
          <p:nvPr>
            <p:ph idx="1"/>
          </p:nvPr>
        </p:nvSpPr>
        <p:spPr>
          <a:xfrm>
            <a:off x="660720" y="3334487"/>
            <a:ext cx="8596668" cy="3880773"/>
          </a:xfrm>
        </p:spPr>
        <p:txBody>
          <a:bodyPr/>
          <a:lstStyle/>
          <a:p>
            <a:r>
              <a:rPr lang="it-IT" dirty="0"/>
              <a:t>La creazione di un cluster ha permesso di ridurre i tempi di </a:t>
            </a:r>
            <a:r>
              <a:rPr lang="it-IT" dirty="0" smtClean="0"/>
              <a:t>analisi </a:t>
            </a:r>
            <a:r>
              <a:rPr lang="it-IT" dirty="0"/>
              <a:t>dei tweet di oltre il 50</a:t>
            </a:r>
            <a:r>
              <a:rPr lang="it-IT" dirty="0" smtClean="0"/>
              <a:t>%, a </a:t>
            </a:r>
            <a:r>
              <a:rPr lang="it-IT" dirty="0"/>
              <a:t>fronte però di un maggior utilizzo di risorse dovuto all'aggiunta di un </a:t>
            </a:r>
            <a:r>
              <a:rPr lang="it-IT" dirty="0" smtClean="0"/>
              <a:t>secondo nodo</a:t>
            </a:r>
            <a:r>
              <a:rPr lang="it-IT" dirty="0"/>
              <a:t>.</a:t>
            </a:r>
            <a:br>
              <a:rPr lang="it-IT" dirty="0"/>
            </a:br>
            <a:r>
              <a:rPr lang="it-IT" dirty="0"/>
              <a:t>Le operazioni di I/O si aggirano in entrambi i casi su 3 MB al secondo con fasi oscillatorie.</a:t>
            </a:r>
            <a:br>
              <a:rPr lang="it-IT" dirty="0"/>
            </a:br>
            <a:r>
              <a:rPr lang="it-IT" dirty="0"/>
              <a:t/>
            </a:r>
            <a:br>
              <a:rPr lang="it-IT" dirty="0"/>
            </a:br>
            <a:r>
              <a:rPr lang="it-IT" dirty="0"/>
              <a:t>Da notare che la fase di inizializzazione per il </a:t>
            </a:r>
            <a:r>
              <a:rPr lang="it-IT" dirty="0" smtClean="0"/>
              <a:t>cluster in mongodb </a:t>
            </a:r>
            <a:r>
              <a:rPr lang="it-IT" dirty="0"/>
              <a:t>è risultata 4 volte più lenta, a causa </a:t>
            </a:r>
            <a:r>
              <a:rPr lang="it-IT" dirty="0" smtClean="0"/>
              <a:t>della </a:t>
            </a:r>
            <a:r>
              <a:rPr lang="it-IT" dirty="0"/>
              <a:t>necessità di dover suddividere i dati nei 3 shard.</a:t>
            </a:r>
          </a:p>
        </p:txBody>
      </p:sp>
      <p:pic>
        <p:nvPicPr>
          <p:cNvPr id="1027" name="Picture 3" descr="C:\Users\Amedeo\Desktop\images.png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275168" y="1124158"/>
            <a:ext cx="1306562" cy="151286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9" name="Picture 5" descr="C:\Users\Amedeo\Desktop\download.png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1216" y="1256984"/>
            <a:ext cx="2143125" cy="16097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CasellaDiTesto 3"/>
          <p:cNvSpPr txBox="1"/>
          <p:nvPr/>
        </p:nvSpPr>
        <p:spPr>
          <a:xfrm>
            <a:off x="6857999" y="1124158"/>
            <a:ext cx="2543909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1400" dirty="0" smtClean="0"/>
              <a:t>MONGO DB</a:t>
            </a:r>
          </a:p>
          <a:p>
            <a:endParaRPr lang="it-IT" sz="1400" dirty="0" smtClean="0"/>
          </a:p>
          <a:p>
            <a:r>
              <a:rPr lang="it-IT" sz="1400" dirty="0"/>
              <a:t>13 minuti per </a:t>
            </a:r>
            <a:r>
              <a:rPr lang="it-IT" sz="1400" dirty="0" smtClean="0"/>
              <a:t>analisi tweets</a:t>
            </a:r>
          </a:p>
          <a:p>
            <a:r>
              <a:rPr lang="it-IT" sz="1400" dirty="0" smtClean="0"/>
              <a:t>- Primary node:</a:t>
            </a:r>
            <a:r>
              <a:rPr lang="it-IT" sz="1400" dirty="0"/>
              <a:t/>
            </a:r>
            <a:br>
              <a:rPr lang="it-IT" sz="1400" dirty="0"/>
            </a:br>
            <a:r>
              <a:rPr lang="it-IT" sz="1400" dirty="0"/>
              <a:t>Cpu 33</a:t>
            </a:r>
            <a:r>
              <a:rPr lang="it-IT" sz="1400" dirty="0" smtClean="0"/>
              <a:t>%</a:t>
            </a:r>
            <a:endParaRPr lang="it-IT" sz="1400" dirty="0"/>
          </a:p>
          <a:p>
            <a:r>
              <a:rPr lang="it-IT" sz="1400" dirty="0" smtClean="0"/>
              <a:t>PWS 3,6 giga</a:t>
            </a:r>
            <a:r>
              <a:rPr lang="it-IT" sz="1400" dirty="0"/>
              <a:t/>
            </a:r>
            <a:br>
              <a:rPr lang="it-IT" sz="1400" dirty="0"/>
            </a:br>
            <a:r>
              <a:rPr lang="it-IT" sz="1400" dirty="0" smtClean="0"/>
              <a:t>- Secondary node:</a:t>
            </a:r>
          </a:p>
          <a:p>
            <a:r>
              <a:rPr lang="it-IT" sz="1400" dirty="0" smtClean="0"/>
              <a:t>Cpu 39%</a:t>
            </a:r>
          </a:p>
          <a:p>
            <a:r>
              <a:rPr lang="it-IT" sz="1400" dirty="0" smtClean="0"/>
              <a:t>PWS 5,7 giga</a:t>
            </a:r>
            <a:endParaRPr lang="it-IT" sz="1400" dirty="0"/>
          </a:p>
        </p:txBody>
      </p:sp>
      <p:sp>
        <p:nvSpPr>
          <p:cNvPr id="5" name="CasellaDiTesto 4"/>
          <p:cNvSpPr txBox="1"/>
          <p:nvPr/>
        </p:nvSpPr>
        <p:spPr>
          <a:xfrm>
            <a:off x="2324341" y="1187484"/>
            <a:ext cx="2634713" cy="166199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1400" dirty="0" smtClean="0"/>
              <a:t>MARIA DB</a:t>
            </a:r>
            <a:r>
              <a:rPr lang="it-IT" sz="1400" dirty="0"/>
              <a:t/>
            </a:r>
            <a:br>
              <a:rPr lang="it-IT" sz="1400" dirty="0"/>
            </a:br>
            <a:endParaRPr lang="it-IT" sz="1400" dirty="0" smtClean="0"/>
          </a:p>
          <a:p>
            <a:r>
              <a:rPr lang="it-IT" sz="1400" dirty="0"/>
              <a:t>29 minuti per a</a:t>
            </a:r>
            <a:r>
              <a:rPr lang="it-IT" sz="1400" dirty="0" smtClean="0"/>
              <a:t>nalisi tweets</a:t>
            </a:r>
            <a:endParaRPr lang="it-IT" sz="1400" dirty="0"/>
          </a:p>
          <a:p>
            <a:r>
              <a:rPr lang="it-IT" sz="1400" dirty="0" smtClean="0"/>
              <a:t>Con cpu </a:t>
            </a:r>
            <a:r>
              <a:rPr lang="it-IT" sz="1400" dirty="0"/>
              <a:t>32</a:t>
            </a:r>
            <a:r>
              <a:rPr lang="it-IT" sz="1400" dirty="0" smtClean="0"/>
              <a:t>%</a:t>
            </a:r>
            <a:r>
              <a:rPr lang="it-IT" sz="1400" dirty="0"/>
              <a:t/>
            </a:r>
            <a:br>
              <a:rPr lang="it-IT" sz="1400" dirty="0"/>
            </a:br>
            <a:r>
              <a:rPr lang="it-IT" sz="1400" dirty="0" smtClean="0"/>
              <a:t>PWS* </a:t>
            </a:r>
            <a:r>
              <a:rPr lang="it-IT" sz="1400" dirty="0"/>
              <a:t>4,2 giga</a:t>
            </a:r>
            <a:br>
              <a:rPr lang="it-IT" sz="1400" dirty="0"/>
            </a:br>
            <a:r>
              <a:rPr lang="it-IT" sz="1400" dirty="0"/>
              <a:t/>
            </a:r>
            <a:br>
              <a:rPr lang="it-IT" sz="1400" dirty="0"/>
            </a:br>
            <a:endParaRPr lang="it-IT" dirty="0"/>
          </a:p>
        </p:txBody>
      </p:sp>
      <p:sp>
        <p:nvSpPr>
          <p:cNvPr id="10" name="Titolo 1"/>
          <p:cNvSpPr>
            <a:spLocks noGrp="1"/>
          </p:cNvSpPr>
          <p:nvPr>
            <p:ph type="title"/>
          </p:nvPr>
        </p:nvSpPr>
        <p:spPr>
          <a:xfrm>
            <a:off x="531832" y="210807"/>
            <a:ext cx="8596668" cy="1287439"/>
          </a:xfrm>
        </p:spPr>
        <p:txBody>
          <a:bodyPr>
            <a:normAutofit/>
          </a:bodyPr>
          <a:lstStyle/>
          <a:p>
            <a:pPr algn="ctr"/>
            <a:r>
              <a:rPr lang="it-IT" b="1" dirty="0" smtClean="0"/>
              <a:t>COMPARAZIONE SOLUZIONI</a:t>
            </a:r>
            <a:endParaRPr lang="it-IT" sz="4800" dirty="0"/>
          </a:p>
        </p:txBody>
      </p:sp>
      <p:sp>
        <p:nvSpPr>
          <p:cNvPr id="6" name="Segnaposto piè di pagina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 sz="1000" dirty="0" smtClean="0"/>
              <a:t>*Primary working set, ossia l'insieme </a:t>
            </a:r>
            <a:r>
              <a:rPr lang="it-IT" sz="1000" dirty="0"/>
              <a:t>delle pagine di memoria utilizzate dai </a:t>
            </a:r>
            <a:r>
              <a:rPr lang="it-IT" sz="1000" dirty="0" smtClean="0"/>
              <a:t>processi in esecuzione</a:t>
            </a:r>
            <a:endParaRPr lang="it-IT" sz="1000" dirty="0"/>
          </a:p>
        </p:txBody>
      </p:sp>
    </p:spTree>
    <p:extLst>
      <p:ext uri="{BB962C8B-B14F-4D97-AF65-F5344CB8AC3E}">
        <p14:creationId xmlns:p14="http://schemas.microsoft.com/office/powerpoint/2010/main" val="285676482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Sfaccettatura">
  <a:themeElements>
    <a:clrScheme name="Sfaccettatura">
      <a:dk1>
        <a:sysClr val="windowText" lastClr="000000"/>
      </a:dk1>
      <a:lt1>
        <a:sysClr val="window" lastClr="FFFFFF"/>
      </a:lt1>
      <a:dk2>
        <a:srgbClr val="2C3C43"/>
      </a:dk2>
      <a:lt2>
        <a:srgbClr val="EBEBEB"/>
      </a:lt2>
      <a:accent1>
        <a:srgbClr val="5FCBEF"/>
      </a:accent1>
      <a:accent2>
        <a:srgbClr val="2E83C3"/>
      </a:accent2>
      <a:accent3>
        <a:srgbClr val="42D0A2"/>
      </a:accent3>
      <a:accent4>
        <a:srgbClr val="2E946B"/>
      </a:accent4>
      <a:accent5>
        <a:srgbClr val="42B051"/>
      </a:accent5>
      <a:accent6>
        <a:srgbClr val="96D141"/>
      </a:accent6>
      <a:hlink>
        <a:srgbClr val="3FCDE7"/>
      </a:hlink>
      <a:folHlink>
        <a:srgbClr val="A9D3E1"/>
      </a:folHlink>
    </a:clrScheme>
    <a:fontScheme name="Sfaccettatura">
      <a:majorFont>
        <a:latin typeface="Trebuchet MS" panose="020B0603020202020204"/>
        <a:ea typeface=""/>
        <a:cs typeface=""/>
        <a:font script="Jpan" typeface="メイリオ"/>
        <a:font script="Hang" typeface="맑은 고딕"/>
        <a:font script="Hans" typeface="方正姚体"/>
        <a:font script="Hant" typeface="微軟正黑體"/>
        <a:font script="Arab" typeface="Tahoma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rebuchet MS" panose="020B0603020202020204"/>
        <a:ea typeface=""/>
        <a:cs typeface=""/>
        <a:font script="Jpan" typeface="メイリオ"/>
        <a:font script="Hang" typeface="HY그래픽M"/>
        <a:font script="Hans" typeface="华文新魏"/>
        <a:font script="Hant" typeface="微軟正黑體"/>
        <a:font script="Arab" typeface="Tahoma"/>
        <a:font script="Hebr" typeface="Gisha"/>
        <a:font script="Thai" typeface="Iris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Sfaccettatura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lumMod val="110000"/>
              </a:schemeClr>
            </a:gs>
            <a:gs pos="88000">
              <a:schemeClr val="phClr">
                <a:tint val="9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0000"/>
              </a:schemeClr>
            </a:gs>
            <a:gs pos="78000">
              <a:schemeClr val="phClr">
                <a:shade val="94000"/>
                <a:lumMod val="94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04000"/>
              </a:schemeClr>
            </a:gs>
            <a:gs pos="94000">
              <a:schemeClr val="phClr">
                <a:shade val="96000"/>
                <a:lumMod val="8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4000"/>
                <a:lumMod val="9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Facet" id="{C0C680CD-088A-49FC-A102-D699147F32B2}" vid="{0B5AB586-D108-4FC1-8368-649FE654B894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Facet</Template>
  <TotalTime>702</TotalTime>
  <Words>609</Words>
  <Application>Microsoft Office PowerPoint</Application>
  <PresentationFormat>Widescreen</PresentationFormat>
  <Paragraphs>159</Paragraphs>
  <Slides>29</Slides>
  <Notes>0</Notes>
  <HiddenSlides>0</HiddenSlides>
  <MMClips>0</MMClips>
  <ScaleCrop>false</ScaleCrop>
  <HeadingPairs>
    <vt:vector size="6" baseType="variant">
      <vt:variant>
        <vt:lpstr>Caratteri utilizzati</vt:lpstr>
      </vt:variant>
      <vt:variant>
        <vt:i4>5</vt:i4>
      </vt:variant>
      <vt:variant>
        <vt:lpstr>Tema</vt:lpstr>
      </vt:variant>
      <vt:variant>
        <vt:i4>1</vt:i4>
      </vt:variant>
      <vt:variant>
        <vt:lpstr>Titoli diapositive</vt:lpstr>
      </vt:variant>
      <vt:variant>
        <vt:i4>29</vt:i4>
      </vt:variant>
    </vt:vector>
  </HeadingPairs>
  <TitlesOfParts>
    <vt:vector size="35" baseType="lpstr">
      <vt:lpstr>Arial</vt:lpstr>
      <vt:lpstr>Palatino Linotype</vt:lpstr>
      <vt:lpstr>Times New Roman</vt:lpstr>
      <vt:lpstr>Trebuchet MS</vt:lpstr>
      <vt:lpstr>Wingdings 3</vt:lpstr>
      <vt:lpstr>Sfaccettatura</vt:lpstr>
      <vt:lpstr>Presentazione standard di PowerPoint</vt:lpstr>
      <vt:lpstr>Presentazione standard di PowerPoint</vt:lpstr>
      <vt:lpstr>Schema dei dati</vt:lpstr>
      <vt:lpstr>Architettura degli shard in MongoDB</vt:lpstr>
      <vt:lpstr>Pipeline di elaborazione delle mappe in MongoDB</vt:lpstr>
      <vt:lpstr>Presentazione standard di PowerPoint</vt:lpstr>
      <vt:lpstr>Schema delle librerie utilizzate</vt:lpstr>
      <vt:lpstr>PRINCIPALI LIBRERIE UTILIZZATE</vt:lpstr>
      <vt:lpstr>Word cloud dei tweet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STATISTICHE REALIZZATE</vt:lpstr>
      <vt:lpstr>Presentazione standard di PowerPoint</vt:lpstr>
      <vt:lpstr>USO DELLE RISORSE LESSICALI</vt:lpstr>
      <vt:lpstr>COMPARAZIONE SOLUZIONI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Presentazione standard di PowerPoint</dc:title>
  <dc:creator>Angelo</dc:creator>
  <cp:lastModifiedBy>Angelo</cp:lastModifiedBy>
  <cp:revision>73</cp:revision>
  <dcterms:created xsi:type="dcterms:W3CDTF">2020-05-07T15:09:40Z</dcterms:created>
  <dcterms:modified xsi:type="dcterms:W3CDTF">2020-05-11T11:07:02Z</dcterms:modified>
</cp:coreProperties>
</file>