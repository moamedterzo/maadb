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59" r:id="rId3"/>
    <p:sldId id="257" r:id="rId4"/>
    <p:sldId id="258" r:id="rId5"/>
    <p:sldId id="294" r:id="rId6"/>
    <p:sldId id="293" r:id="rId7"/>
    <p:sldId id="260" r:id="rId8"/>
    <p:sldId id="289" r:id="rId9"/>
    <p:sldId id="270" r:id="rId10"/>
    <p:sldId id="261" r:id="rId11"/>
    <p:sldId id="271" r:id="rId12"/>
    <p:sldId id="273" r:id="rId13"/>
    <p:sldId id="272" r:id="rId14"/>
    <p:sldId id="275" r:id="rId15"/>
    <p:sldId id="274" r:id="rId16"/>
    <p:sldId id="278" r:id="rId17"/>
    <p:sldId id="277" r:id="rId18"/>
    <p:sldId id="276" r:id="rId19"/>
    <p:sldId id="282" r:id="rId20"/>
    <p:sldId id="281" r:id="rId21"/>
    <p:sldId id="280" r:id="rId22"/>
    <p:sldId id="279" r:id="rId23"/>
    <p:sldId id="283" r:id="rId24"/>
    <p:sldId id="284" r:id="rId25"/>
    <p:sldId id="285" r:id="rId26"/>
    <p:sldId id="287" r:id="rId27"/>
    <p:sldId id="290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81" d="100"/>
          <a:sy n="81" d="100"/>
        </p:scale>
        <p:origin x="-30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17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7812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478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5282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679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9485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5701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313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7578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410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16158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8002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24742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9383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681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275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60570-40D4-4251-9C9D-483363F27B24}" type="datetimeFigureOut">
              <a:rPr lang="it-IT" smtClean="0"/>
              <a:t>10/05/2020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8423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  <p:sldLayoutId id="2147483900" r:id="rId12"/>
    <p:sldLayoutId id="2147483901" r:id="rId13"/>
    <p:sldLayoutId id="2147483902" r:id="rId14"/>
    <p:sldLayoutId id="2147483903" r:id="rId15"/>
    <p:sldLayoutId id="214748390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pypi.org/project/requests/" TargetMode="External"/><Relationship Id="rId3" Type="http://schemas.openxmlformats.org/officeDocument/2006/relationships/hyperlink" Target="https://api.mongodb.com/python/current/tutorial.html" TargetMode="External"/><Relationship Id="rId7" Type="http://schemas.openxmlformats.org/officeDocument/2006/relationships/hyperlink" Target="https://docs.python.org/3/library/threading.html" TargetMode="External"/><Relationship Id="rId2" Type="http://schemas.openxmlformats.org/officeDocument/2006/relationships/hyperlink" Target="https://pypi.org/project/wordclou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rpedm20/emoji/" TargetMode="External"/><Relationship Id="rId5" Type="http://schemas.openxmlformats.org/officeDocument/2006/relationships/hyperlink" Target="https://www.nltk.org/install.html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github.com/mariadb-corporation/mariadb-connector-python/wiki/usage.md" TargetMode="External"/><Relationship Id="rId9" Type="http://schemas.openxmlformats.org/officeDocument/2006/relationships/hyperlink" Target="https://docs.python.org/3/library/re.html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353317" y="4909518"/>
            <a:ext cx="295723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STUDENTI</a:t>
            </a:r>
            <a: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928995 </a:t>
            </a:r>
            <a:r>
              <a:rPr lang="it-IT" altLang="it-IT" sz="1600" b="1" dirty="0" err="1" smtClean="0">
                <a:solidFill>
                  <a:prstClr val="black"/>
                </a:solidFill>
                <a:latin typeface="Palatino Linotype"/>
                <a:cs typeface="Arial" charset="0"/>
              </a:rPr>
              <a:t>Racanati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 Amedeo </a:t>
            </a:r>
            <a:r>
              <a:rPr lang="it-IT" sz="1600" dirty="0"/>
              <a:t>928869 </a:t>
            </a:r>
            <a:r>
              <a:rPr lang="it-IT" altLang="it-IT" sz="1600" b="1" dirty="0" err="1" smtClean="0">
                <a:solidFill>
                  <a:prstClr val="black"/>
                </a:solidFill>
                <a:latin typeface="Palatino Linotype"/>
                <a:cs typeface="Arial" charset="0"/>
              </a:rPr>
              <a:t>Sansonetti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 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Angelo 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Pio</a:t>
            </a:r>
            <a: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endParaRPr lang="it-IT" altLang="it-IT" sz="16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896197" y="6099741"/>
            <a:ext cx="38163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</a:pPr>
            <a:r>
              <a:rPr lang="it-IT" altLang="it-IT" b="1" dirty="0">
                <a:solidFill>
                  <a:prstClr val="black"/>
                </a:solidFill>
                <a:latin typeface="Palatino Linotype"/>
                <a:cs typeface="Arial" charset="0"/>
              </a:rPr>
              <a:t>Anno Accademico </a:t>
            </a:r>
            <a:r>
              <a:rPr lang="it-IT" altLang="it-IT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2019-20</a:t>
            </a:r>
            <a:endParaRPr lang="it-IT" altLang="it-IT" b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2173022" y="3429001"/>
            <a:ext cx="79928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Presentazione di progetto di Modelli e architetture avanzati di basi di dati</a:t>
            </a: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alatino Linotype"/>
                <a:cs typeface="Times New Roman" panose="02020603050405020304" pitchFamily="18" charset="0"/>
              </a:rPr>
              <a:t> 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10" name="CasellaDiTesto 9"/>
          <p:cNvSpPr txBox="1"/>
          <p:nvPr/>
        </p:nvSpPr>
        <p:spPr>
          <a:xfrm>
            <a:off x="2173022" y="1268760"/>
            <a:ext cx="79928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UNIVERSIT</a:t>
            </a:r>
            <a:r>
              <a:rPr 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À DEGLI STUDI DI TORINO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DIPARTIMENTO DI INFORMATICA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2500" b="1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i="1" dirty="0">
                <a:solidFill>
                  <a:srgbClr val="9A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Corso di Laurea Magistrale in Informatica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i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5974" y="182054"/>
            <a:ext cx="1067970" cy="108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90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12" y="1165709"/>
            <a:ext cx="11615672" cy="399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1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27707" y="491613"/>
            <a:ext cx="8596668" cy="1320800"/>
          </a:xfrm>
        </p:spPr>
        <p:txBody>
          <a:bodyPr/>
          <a:lstStyle/>
          <a:p>
            <a:pPr algn="ctr"/>
            <a:r>
              <a:rPr lang="it-IT" dirty="0" smtClean="0"/>
              <a:t>Schema dei dati</a:t>
            </a:r>
            <a:endParaRPr lang="it-IT" dirty="0"/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116" y="1270000"/>
            <a:ext cx="7879851" cy="489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29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0" y="2762146"/>
            <a:ext cx="3932809" cy="1320800"/>
          </a:xfrm>
        </p:spPr>
        <p:txBody>
          <a:bodyPr>
            <a:normAutofit fontScale="90000"/>
          </a:bodyPr>
          <a:lstStyle/>
          <a:p>
            <a:pPr algn="ctr"/>
            <a:r>
              <a:rPr lang="it-IT" dirty="0" smtClean="0"/>
              <a:t>Architettura</a:t>
            </a:r>
            <a:r>
              <a:rPr lang="it-IT" dirty="0" smtClean="0"/>
              <a:t/>
            </a:r>
            <a:br>
              <a:rPr lang="it-IT" dirty="0" smtClean="0"/>
            </a:br>
            <a:r>
              <a:rPr lang="it-IT" dirty="0" smtClean="0"/>
              <a:t>degli </a:t>
            </a:r>
            <a:r>
              <a:rPr lang="it-IT" dirty="0" err="1" smtClean="0"/>
              <a:t>shard</a:t>
            </a:r>
            <a:r>
              <a:rPr lang="it-IT" dirty="0" smtClean="0"/>
              <a:t> in </a:t>
            </a:r>
            <a:r>
              <a:rPr lang="it-IT" dirty="0" err="1" smtClean="0"/>
              <a:t>MongoDB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981" y="392743"/>
            <a:ext cx="8283837" cy="6059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42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548380" y="105508"/>
            <a:ext cx="859666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Pipeline di elaborazione delle mappe in </a:t>
            </a:r>
            <a:r>
              <a:rPr lang="it-IT" dirty="0" err="1" smtClean="0"/>
              <a:t>MongoDB</a:t>
            </a:r>
            <a:endParaRPr lang="it-IT" dirty="0"/>
          </a:p>
        </p:txBody>
      </p:sp>
      <p:pic>
        <p:nvPicPr>
          <p:cNvPr id="1026" name="Picture 2" descr="D:\Download\Untitled Diagr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1" y="1567229"/>
            <a:ext cx="8296275" cy="489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066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:a16="http://schemas.microsoft.com/office/drawing/2014/main" xmlns="" id="{7B0C3D97-6237-4821-A89A-70162D11EE48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it-IT" sz="2500" b="1" dirty="0" smtClean="0">
                <a:solidFill>
                  <a:prstClr val="black"/>
                </a:solidFill>
                <a:latin typeface="+mn-lt"/>
                <a:ea typeface="+mn-ea"/>
                <a:cs typeface="Times New Roman" panose="02020603050405020304" pitchFamily="18" charset="0"/>
              </a:rPr>
              <a:t>Elenco mappe generate</a:t>
            </a:r>
            <a:endParaRPr lang="it-IT" sz="2500" b="1" dirty="0">
              <a:solidFill>
                <a:prstClr val="black"/>
              </a:solidFill>
              <a:latin typeface="+mn-lt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xmlns="" id="{058AAC17-44C7-46C9-846C-ACC9953C05A1}"/>
              </a:ext>
            </a:extLst>
          </p:cNvPr>
          <p:cNvSpPr txBox="1">
            <a:spLocks/>
          </p:cNvSpPr>
          <p:nvPr/>
        </p:nvSpPr>
        <p:spPr>
          <a:xfrm>
            <a:off x="4917831" y="1231741"/>
            <a:ext cx="4038600" cy="1828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Hashtag</a:t>
            </a: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</a:t>
            </a:r>
            <a:r>
              <a:rPr lang="it-IT" sz="2900" b="1" i="1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Map</a:t>
            </a: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:</a:t>
            </a:r>
          </a:p>
          <a:p>
            <a:pPr marL="0" indent="0">
              <a:buFont typeface="Wingdings 3" charset="2"/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 sentimento viene creata una mappa, che a sua volta contiene tante mappe per ciascun </a:t>
            </a:r>
            <a:r>
              <a:rPr lang="it-IT" sz="19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hashtag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con relative frequenze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xmlns="" id="{68B22042-CC38-489D-A7E5-BCC033D653FC}"/>
              </a:ext>
            </a:extLst>
          </p:cNvPr>
          <p:cNvSpPr txBox="1">
            <a:spLocks/>
          </p:cNvSpPr>
          <p:nvPr/>
        </p:nvSpPr>
        <p:spPr>
          <a:xfrm>
            <a:off x="457200" y="3645882"/>
            <a:ext cx="4038600" cy="2116832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Emoji</a:t>
            </a: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</a:t>
            </a:r>
            <a:r>
              <a:rPr lang="it-IT" sz="2900" b="1" i="1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Map</a:t>
            </a: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 sentimento viene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creata una mappa, che a sua volta contiene tante mappe 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ciascuna </a:t>
            </a:r>
            <a:r>
              <a:rPr lang="it-IT" sz="1900" dirty="0" err="1">
                <a:solidFill>
                  <a:prstClr val="black"/>
                </a:solidFill>
                <a:cs typeface="Times New Roman" panose="02020603050405020304" pitchFamily="18" charset="0"/>
              </a:rPr>
              <a:t>emoji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 o emoticon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con relative frequenze</a:t>
            </a:r>
          </a:p>
          <a:p>
            <a:pPr marL="0" indent="0">
              <a:buFont typeface="Wingdings 3" charset="2"/>
              <a:buNone/>
            </a:pPr>
            <a:endParaRPr lang="it-IT" dirty="0"/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xmlns="" id="{058AAC17-44C7-46C9-846C-ACC9953C0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31741"/>
            <a:ext cx="4038600" cy="1828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Word </a:t>
            </a:r>
            <a:r>
              <a:rPr lang="it-IT" sz="2900" b="1" i="1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Map</a:t>
            </a:r>
            <a:r>
              <a:rPr lang="it-IT" sz="29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ciascuna parola relativa ad un sentimento viene generata una mappa relativa alla frequenza nei </a:t>
            </a:r>
            <a:r>
              <a:rPr lang="it-IT" sz="19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tweet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762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8851"/>
            <a:ext cx="12333646" cy="6440166"/>
          </a:xfrm>
          <a:prstGeom prst="rect">
            <a:avLst/>
          </a:prstGeom>
        </p:spPr>
      </p:pic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1606062" y="0"/>
            <a:ext cx="829993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Schema delle librerie utilizzate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3417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9773" y="161335"/>
            <a:ext cx="6681408" cy="783771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PRINCIPALI LIBRERIE UTILIZZATE</a:t>
            </a:r>
            <a:endParaRPr lang="it-IT" dirty="0"/>
          </a:p>
        </p:txBody>
      </p:sp>
      <p:graphicFrame>
        <p:nvGraphicFramePr>
          <p:cNvPr id="4" name="Tabel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185739"/>
              </p:ext>
            </p:extLst>
          </p:nvPr>
        </p:nvGraphicFramePr>
        <p:xfrm>
          <a:off x="1393373" y="986971"/>
          <a:ext cx="9327846" cy="550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0361">
                  <a:extLst>
                    <a:ext uri="{9D8B030D-6E8A-4147-A177-3AD203B41FA5}">
                      <a16:colId xmlns:a16="http://schemas.microsoft.com/office/drawing/2014/main" xmlns="" val="28778673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xmlns="" val="674584734"/>
                    </a:ext>
                  </a:extLst>
                </a:gridCol>
                <a:gridCol w="4151085">
                  <a:extLst>
                    <a:ext uri="{9D8B030D-6E8A-4147-A177-3AD203B41FA5}">
                      <a16:colId xmlns:a16="http://schemas.microsoft.com/office/drawing/2014/main" xmlns="" val="207423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Nome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Scopo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Riferimento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59061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wordcloud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Generatore</a:t>
                      </a:r>
                      <a:r>
                        <a:rPr lang="it-IT" baseline="0" dirty="0" smtClean="0"/>
                        <a:t> di word 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2"/>
                        </a:rPr>
                        <a:t>https://pypi.org/project/wordcloud/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152449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pymongo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MongoDB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3"/>
                        </a:rPr>
                        <a:t>https://api.mongodb.com/python/current/tutorial.html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860423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mariadb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MariaDB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4"/>
                        </a:rPr>
                        <a:t>https://github.com/mariadb-corporation/mariadb-connector-python/wiki/usage.md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86662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nltk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Tokenizzazione,</a:t>
                      </a:r>
                      <a:r>
                        <a:rPr lang="it-IT" baseline="0" dirty="0" smtClean="0"/>
                        <a:t> Pos tagging, Lemmatizzazione,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5"/>
                        </a:rPr>
                        <a:t>https://www.nltk.org/install.html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7237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emoji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degli</a:t>
                      </a:r>
                      <a:r>
                        <a:rPr lang="it-IT" baseline="0" dirty="0" smtClean="0"/>
                        <a:t> emoji durante il processing dei tweet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6"/>
                        </a:rPr>
                        <a:t>https://github.com/carpedm20/emoji/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4368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threading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elaborazione</a:t>
                      </a:r>
                      <a:r>
                        <a:rPr lang="it-IT" baseline="0" dirty="0" smtClean="0"/>
                        <a:t> distribuita degli shard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7"/>
                        </a:rPr>
                        <a:t>https://docs.python.org/3/library/threading.html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60836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requests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richieste http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8"/>
                        </a:rPr>
                        <a:t>https://pypi.org/project/requests/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08805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espressioni regolari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9"/>
                        </a:rPr>
                        <a:t>https://docs.python.org/3/library/re.html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163736797"/>
                  </a:ext>
                </a:extLst>
              </a:tr>
            </a:tbl>
          </a:graphicData>
        </a:graphic>
      </p:graphicFrame>
      <p:pic>
        <p:nvPicPr>
          <p:cNvPr id="6" name="Immagine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4781" y="92928"/>
            <a:ext cx="2310190" cy="81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06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smtClean="0"/>
              <a:t>Word cloud dei tweet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857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#fuckyou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#annoying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235768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#cantwait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Tomorrow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Tonight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#soexcited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#waiting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064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#bored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Nigga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4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8" y="2060812"/>
            <a:ext cx="3575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#awkaward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#scared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#decisions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#thatawkwardmoment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Joy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Good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G</a:t>
            </a:r>
            <a:r>
              <a:rPr lang="it-IT" sz="2400" dirty="0" smtClean="0"/>
              <a:t>reat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F</a:t>
            </a:r>
            <a:r>
              <a:rPr lang="it-IT" sz="2400" dirty="0" smtClean="0"/>
              <a:t>unny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05" y="1412592"/>
            <a:ext cx="7264235" cy="542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44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Feel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Cry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Leave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sadtweet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02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#wtf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#weird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#omg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#random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crazy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8883"/>
            <a:ext cx="7361120" cy="549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377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Sweet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err="1" smtClean="0"/>
              <a:t>Forever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7904" cy="544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7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309" y="1155342"/>
            <a:ext cx="7313875" cy="546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0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54" y="1155342"/>
            <a:ext cx="7526785" cy="562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040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135" y="1155342"/>
            <a:ext cx="7414224" cy="553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712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001" y="1155342"/>
            <a:ext cx="7432492" cy="555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69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099" y="1155342"/>
            <a:ext cx="7485459" cy="559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45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515" y="1155342"/>
            <a:ext cx="7761463" cy="579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25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0456" y="1155342"/>
            <a:ext cx="7633581" cy="570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60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637" y="1155342"/>
            <a:ext cx="7405219" cy="553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23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369658" y="3343703"/>
            <a:ext cx="5245793" cy="610540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STATISTICHE REALIZZATE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3050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/>
          <p:cNvSpPr/>
          <p:nvPr/>
        </p:nvSpPr>
        <p:spPr>
          <a:xfrm>
            <a:off x="564108" y="269741"/>
            <a:ext cx="926228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4000" dirty="0" smtClean="0">
                <a:solidFill>
                  <a:srgbClr val="5FCBEF"/>
                </a:solidFill>
                <a:ea typeface="+mj-ea"/>
                <a:cs typeface="+mj-cs"/>
              </a:rPr>
              <a:t>FREQUENZA DEI TERMINI CONTEGGIATI </a:t>
            </a:r>
            <a:endParaRPr lang="it-IT" dirty="0"/>
          </a:p>
        </p:txBody>
      </p:sp>
      <p:pic>
        <p:nvPicPr>
          <p:cNvPr id="8" name="Immagin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59" y="1123322"/>
            <a:ext cx="8952932" cy="4548796"/>
          </a:xfrm>
          <a:prstGeom prst="rect">
            <a:avLst/>
          </a:prstGeom>
        </p:spPr>
      </p:pic>
      <p:sp>
        <p:nvSpPr>
          <p:cNvPr id="2" name="Segnaposto piè di pagina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61150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673621" y="145576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USO DELLE RISORSE LESSICALI</a:t>
            </a:r>
            <a:endParaRPr lang="it-IT" sz="4800" dirty="0"/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" r="161"/>
          <a:stretch/>
        </p:blipFill>
        <p:spPr>
          <a:xfrm>
            <a:off x="1345364" y="1156363"/>
            <a:ext cx="9253181" cy="2552700"/>
          </a:xfrm>
          <a:prstGeom prst="rect">
            <a:avLst/>
          </a:prstGeom>
        </p:spPr>
      </p:pic>
      <p:sp>
        <p:nvSpPr>
          <p:cNvPr id="3" name="CasellaDiTesto 2"/>
          <p:cNvSpPr txBox="1"/>
          <p:nvPr/>
        </p:nvSpPr>
        <p:spPr>
          <a:xfrm>
            <a:off x="1154624" y="4215539"/>
            <a:ext cx="1006614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Analizzando grafico precedente, si è deciso di scartare le parole che hanno avuto una occorrenza inferiore a 10.</a:t>
            </a:r>
          </a:p>
          <a:p>
            <a:r>
              <a:rPr lang="it-IT" dirty="0" smtClean="0"/>
              <a:t>Il primo gruppo di colonne indica il rapporto tra tutte le parole conteggiate appartenenti a ciascuna risorsa con il totale delle parole conteggiate. Il secondo gruppo indica il rapporto tra le parole delle risorse conteggiate con il totale delle parole delle risorse.</a:t>
            </a:r>
          </a:p>
          <a:p>
            <a:r>
              <a:rPr lang="it-IT" dirty="0" smtClean="0"/>
              <a:t>L’ultima colonna indica le nuove parole trovate non appartenenti a ciascuna risorsa.</a:t>
            </a:r>
            <a:endParaRPr lang="it-IT" dirty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smtClean="0"/>
              <a:t>sdsadasd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0953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660720" y="3334487"/>
            <a:ext cx="8596668" cy="3880773"/>
          </a:xfrm>
        </p:spPr>
        <p:txBody>
          <a:bodyPr/>
          <a:lstStyle/>
          <a:p>
            <a:r>
              <a:rPr lang="it-IT" dirty="0"/>
              <a:t>La creazione di un cluster ha permesso di ridurre i tempi di </a:t>
            </a:r>
            <a:r>
              <a:rPr lang="it-IT" dirty="0" smtClean="0"/>
              <a:t>analisi </a:t>
            </a:r>
            <a:r>
              <a:rPr lang="it-IT" dirty="0"/>
              <a:t>dei </a:t>
            </a:r>
            <a:r>
              <a:rPr lang="it-IT" dirty="0" err="1"/>
              <a:t>tweet</a:t>
            </a:r>
            <a:r>
              <a:rPr lang="it-IT" dirty="0"/>
              <a:t> di oltre il 50</a:t>
            </a:r>
            <a:r>
              <a:rPr lang="it-IT" dirty="0" smtClean="0"/>
              <a:t>%, a </a:t>
            </a:r>
            <a:r>
              <a:rPr lang="it-IT" dirty="0"/>
              <a:t>fronte però di un maggior utilizzo di risorse dovuto all'aggiunta di un </a:t>
            </a:r>
            <a:r>
              <a:rPr lang="it-IT" dirty="0" smtClean="0"/>
              <a:t>secondo nodo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Le operazioni di I/O si aggirano in entrambi i casi su 3 MB al secondo con fasi oscillatorie.</a:t>
            </a:r>
            <a:br>
              <a:rPr lang="it-IT" dirty="0"/>
            </a:br>
            <a:r>
              <a:rPr lang="it-IT" dirty="0"/>
              <a:t/>
            </a:r>
            <a:br>
              <a:rPr lang="it-IT" dirty="0"/>
            </a:br>
            <a:r>
              <a:rPr lang="it-IT" dirty="0"/>
              <a:t>Da notare che la fase di inizializzazione per il </a:t>
            </a:r>
            <a:r>
              <a:rPr lang="it-IT" dirty="0" smtClean="0"/>
              <a:t>cluster in </a:t>
            </a:r>
            <a:r>
              <a:rPr lang="it-IT" dirty="0" err="1" smtClean="0"/>
              <a:t>mongodb</a:t>
            </a:r>
            <a:r>
              <a:rPr lang="it-IT" dirty="0" smtClean="0"/>
              <a:t> </a:t>
            </a:r>
            <a:r>
              <a:rPr lang="it-IT" dirty="0"/>
              <a:t>è risultata 4 volte più lenta, a causa </a:t>
            </a:r>
            <a:r>
              <a:rPr lang="it-IT" dirty="0" smtClean="0"/>
              <a:t>della </a:t>
            </a:r>
            <a:r>
              <a:rPr lang="it-IT" dirty="0"/>
              <a:t>necessità di dover suddividere i dati nei 3 </a:t>
            </a:r>
            <a:r>
              <a:rPr lang="it-IT" dirty="0" err="1"/>
              <a:t>shard</a:t>
            </a:r>
            <a:r>
              <a:rPr lang="it-IT" dirty="0"/>
              <a:t>.</a:t>
            </a:r>
          </a:p>
        </p:txBody>
      </p:sp>
      <p:pic>
        <p:nvPicPr>
          <p:cNvPr id="1027" name="Picture 3" descr="C:\Users\Amedeo\Desktop\imag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168" y="1124158"/>
            <a:ext cx="1306562" cy="1512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Amedeo\Desktop\download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216" y="1256984"/>
            <a:ext cx="2143125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/>
          <p:cNvSpPr txBox="1"/>
          <p:nvPr/>
        </p:nvSpPr>
        <p:spPr>
          <a:xfrm>
            <a:off x="6857999" y="1124158"/>
            <a:ext cx="25439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MONGO DB</a:t>
            </a:r>
          </a:p>
          <a:p>
            <a:endParaRPr lang="it-IT" sz="1400" dirty="0" smtClean="0"/>
          </a:p>
          <a:p>
            <a:r>
              <a:rPr lang="it-IT" sz="1400" dirty="0"/>
              <a:t>13 minuti per </a:t>
            </a:r>
            <a:r>
              <a:rPr lang="it-IT" sz="1400" dirty="0" smtClean="0"/>
              <a:t>analisi </a:t>
            </a:r>
            <a:r>
              <a:rPr lang="it-IT" sz="1400" dirty="0" err="1" smtClean="0"/>
              <a:t>tweets</a:t>
            </a:r>
            <a:endParaRPr lang="it-IT" sz="1400" dirty="0" smtClean="0"/>
          </a:p>
          <a:p>
            <a:r>
              <a:rPr lang="it-IT" sz="1400" dirty="0" smtClean="0"/>
              <a:t>- </a:t>
            </a:r>
            <a:r>
              <a:rPr lang="it-IT" sz="1400" dirty="0" err="1" smtClean="0"/>
              <a:t>Primary</a:t>
            </a:r>
            <a:r>
              <a:rPr lang="it-IT" sz="1400" dirty="0" smtClean="0"/>
              <a:t> </a:t>
            </a:r>
            <a:r>
              <a:rPr lang="it-IT" sz="1400" dirty="0" err="1" smtClean="0"/>
              <a:t>node</a:t>
            </a:r>
            <a:r>
              <a:rPr lang="it-IT" sz="1400" dirty="0" smtClean="0"/>
              <a:t>: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err="1"/>
              <a:t>Cpu</a:t>
            </a:r>
            <a:r>
              <a:rPr lang="it-IT" sz="1400" dirty="0"/>
              <a:t> 33</a:t>
            </a:r>
            <a:r>
              <a:rPr lang="it-IT" sz="1400" dirty="0" smtClean="0"/>
              <a:t>%</a:t>
            </a:r>
            <a:endParaRPr lang="it-IT" sz="1400" dirty="0"/>
          </a:p>
          <a:p>
            <a:r>
              <a:rPr lang="it-IT" sz="1400" dirty="0" smtClean="0"/>
              <a:t>PWS 3,6 giga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- </a:t>
            </a:r>
            <a:r>
              <a:rPr lang="it-IT" sz="1400" dirty="0" err="1" smtClean="0"/>
              <a:t>Secondary</a:t>
            </a:r>
            <a:r>
              <a:rPr lang="it-IT" sz="1400" dirty="0" smtClean="0"/>
              <a:t> </a:t>
            </a:r>
            <a:r>
              <a:rPr lang="it-IT" sz="1400" dirty="0" err="1" smtClean="0"/>
              <a:t>node</a:t>
            </a:r>
            <a:r>
              <a:rPr lang="it-IT" sz="1400" dirty="0" smtClean="0"/>
              <a:t>:</a:t>
            </a:r>
          </a:p>
          <a:p>
            <a:r>
              <a:rPr lang="it-IT" sz="1400" dirty="0" err="1" smtClean="0"/>
              <a:t>Cpu</a:t>
            </a:r>
            <a:r>
              <a:rPr lang="it-IT" sz="1400" dirty="0" smtClean="0"/>
              <a:t> 39%</a:t>
            </a:r>
          </a:p>
          <a:p>
            <a:r>
              <a:rPr lang="it-IT" sz="1400" dirty="0" smtClean="0"/>
              <a:t>PWS 5,7 giga</a:t>
            </a:r>
            <a:endParaRPr lang="it-IT" sz="1400" dirty="0"/>
          </a:p>
        </p:txBody>
      </p:sp>
      <p:sp>
        <p:nvSpPr>
          <p:cNvPr id="5" name="CasellaDiTesto 4"/>
          <p:cNvSpPr txBox="1"/>
          <p:nvPr/>
        </p:nvSpPr>
        <p:spPr>
          <a:xfrm>
            <a:off x="2324341" y="1187484"/>
            <a:ext cx="263471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MARIA DB</a:t>
            </a:r>
            <a:r>
              <a:rPr lang="it-IT" sz="1400" dirty="0"/>
              <a:t/>
            </a:r>
            <a:br>
              <a:rPr lang="it-IT" sz="1400" dirty="0"/>
            </a:br>
            <a:endParaRPr lang="it-IT" sz="1400" dirty="0" smtClean="0"/>
          </a:p>
          <a:p>
            <a:r>
              <a:rPr lang="it-IT" sz="1400" dirty="0"/>
              <a:t>29 minuti per a</a:t>
            </a:r>
            <a:r>
              <a:rPr lang="it-IT" sz="1400" dirty="0" smtClean="0"/>
              <a:t>nalisi </a:t>
            </a:r>
            <a:r>
              <a:rPr lang="it-IT" sz="1400" dirty="0" err="1" smtClean="0"/>
              <a:t>tweets</a:t>
            </a:r>
            <a:endParaRPr lang="it-IT" sz="1400" dirty="0"/>
          </a:p>
          <a:p>
            <a:r>
              <a:rPr lang="it-IT" sz="1400" dirty="0" smtClean="0"/>
              <a:t>Con </a:t>
            </a:r>
            <a:r>
              <a:rPr lang="it-IT" sz="1400" dirty="0" err="1" smtClean="0"/>
              <a:t>cpu</a:t>
            </a:r>
            <a:r>
              <a:rPr lang="it-IT" sz="1400" dirty="0" smtClean="0"/>
              <a:t> </a:t>
            </a:r>
            <a:r>
              <a:rPr lang="it-IT" sz="1400" dirty="0"/>
              <a:t>32</a:t>
            </a:r>
            <a:r>
              <a:rPr lang="it-IT" sz="1400" dirty="0" smtClean="0"/>
              <a:t>%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PWS* </a:t>
            </a:r>
            <a:r>
              <a:rPr lang="it-IT" sz="1400" dirty="0"/>
              <a:t>4,2 giga</a:t>
            </a:r>
            <a:br>
              <a:rPr lang="it-IT" sz="1400" dirty="0"/>
            </a:br>
            <a:r>
              <a:rPr lang="it-IT" sz="1400" dirty="0"/>
              <a:t/>
            </a:r>
            <a:br>
              <a:rPr lang="it-IT" sz="1400" dirty="0"/>
            </a:br>
            <a:endParaRPr lang="it-IT" dirty="0"/>
          </a:p>
        </p:txBody>
      </p:sp>
      <p:sp>
        <p:nvSpPr>
          <p:cNvPr id="10" name="Titolo 1"/>
          <p:cNvSpPr>
            <a:spLocks noGrp="1"/>
          </p:cNvSpPr>
          <p:nvPr>
            <p:ph type="title"/>
          </p:nvPr>
        </p:nvSpPr>
        <p:spPr>
          <a:xfrm>
            <a:off x="531832" y="210807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COMPARAZIONE SOLUZIONI</a:t>
            </a:r>
            <a:endParaRPr lang="it-IT" sz="480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sz="1000" dirty="0" smtClean="0"/>
              <a:t>*</a:t>
            </a:r>
            <a:r>
              <a:rPr lang="it-IT" sz="1000" dirty="0" err="1" smtClean="0"/>
              <a:t>Primary</a:t>
            </a:r>
            <a:r>
              <a:rPr lang="it-IT" sz="1000" dirty="0" smtClean="0"/>
              <a:t> </a:t>
            </a:r>
            <a:r>
              <a:rPr lang="it-IT" sz="1000" dirty="0" err="1" smtClean="0"/>
              <a:t>working</a:t>
            </a:r>
            <a:r>
              <a:rPr lang="it-IT" sz="1000" dirty="0" smtClean="0"/>
              <a:t> set, ossia l'insieme </a:t>
            </a:r>
            <a:r>
              <a:rPr lang="it-IT" sz="1000" dirty="0"/>
              <a:t>delle pagine di memoria utilizzate dai </a:t>
            </a:r>
            <a:r>
              <a:rPr lang="it-IT" sz="1000" dirty="0" smtClean="0"/>
              <a:t>processi in esecuzione</a:t>
            </a:r>
            <a:endParaRPr lang="it-IT" sz="1000" dirty="0"/>
          </a:p>
        </p:txBody>
      </p:sp>
    </p:spTree>
    <p:extLst>
      <p:ext uri="{BB962C8B-B14F-4D97-AF65-F5344CB8AC3E}">
        <p14:creationId xmlns:p14="http://schemas.microsoft.com/office/powerpoint/2010/main" val="2856764828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669</TotalTime>
  <Words>422</Words>
  <Application>Microsoft Office PowerPoint</Application>
  <PresentationFormat>Personalizzato</PresentationFormat>
  <Paragraphs>159</Paragraphs>
  <Slides>29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0" baseType="lpstr">
      <vt:lpstr>Sfaccettatura</vt:lpstr>
      <vt:lpstr>Presentazione standard di PowerPoint</vt:lpstr>
      <vt:lpstr>Presentazione standard di PowerPoint</vt:lpstr>
      <vt:lpstr>Schema dei dati</vt:lpstr>
      <vt:lpstr>Architettura degli shard in MongoDB</vt:lpstr>
      <vt:lpstr>Pipeline di elaborazione delle mappe in MongoDB</vt:lpstr>
      <vt:lpstr>Presentazione standard di PowerPoint</vt:lpstr>
      <vt:lpstr>Schema delle librerie utilizzate</vt:lpstr>
      <vt:lpstr>PRINCIPALI LIBRERIE UTILIZZATE</vt:lpstr>
      <vt:lpstr>Word cloud dei tweet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STATISTICHE REALIZZATE</vt:lpstr>
      <vt:lpstr>Presentazione standard di PowerPoint</vt:lpstr>
      <vt:lpstr>USO DELLE RISORSE LESSICALI</vt:lpstr>
      <vt:lpstr>COMPARAZIONE SOLUZIONI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Angelo</dc:creator>
  <cp:lastModifiedBy>Utente Windows</cp:lastModifiedBy>
  <cp:revision>69</cp:revision>
  <dcterms:created xsi:type="dcterms:W3CDTF">2020-05-07T15:09:40Z</dcterms:created>
  <dcterms:modified xsi:type="dcterms:W3CDTF">2020-05-10T10:54:16Z</dcterms:modified>
</cp:coreProperties>
</file>