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8" r:id="rId1"/>
  </p:sldMasterIdLst>
  <p:sldIdLst>
    <p:sldId id="256" r:id="rId2"/>
    <p:sldId id="259" r:id="rId3"/>
    <p:sldId id="257" r:id="rId4"/>
    <p:sldId id="258" r:id="rId5"/>
    <p:sldId id="294" r:id="rId6"/>
    <p:sldId id="293" r:id="rId7"/>
    <p:sldId id="260" r:id="rId8"/>
    <p:sldId id="289" r:id="rId9"/>
    <p:sldId id="270" r:id="rId10"/>
    <p:sldId id="261" r:id="rId11"/>
    <p:sldId id="271" r:id="rId12"/>
    <p:sldId id="273" r:id="rId13"/>
    <p:sldId id="272" r:id="rId14"/>
    <p:sldId id="275" r:id="rId15"/>
    <p:sldId id="274" r:id="rId16"/>
    <p:sldId id="278" r:id="rId17"/>
    <p:sldId id="277" r:id="rId18"/>
    <p:sldId id="276" r:id="rId19"/>
    <p:sldId id="282" r:id="rId20"/>
    <p:sldId id="281" r:id="rId21"/>
    <p:sldId id="280" r:id="rId22"/>
    <p:sldId id="279" r:id="rId23"/>
    <p:sldId id="283" r:id="rId24"/>
    <p:sldId id="284" r:id="rId25"/>
    <p:sldId id="285" r:id="rId26"/>
    <p:sldId id="287" r:id="rId27"/>
    <p:sldId id="290" r:id="rId28"/>
    <p:sldId id="291" r:id="rId29"/>
    <p:sldId id="292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-582" y="-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 smtClean="0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17/05/2020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95170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17/05/2020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7812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17/05/2020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0478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17/05/2020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35282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17/05/2020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31679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17/05/2020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39485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17/05/2020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25701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17/05/2020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8313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 smtClean="0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17/05/2020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675785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17/05/2020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94103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17/05/2020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316158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17/05/2020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080027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17/05/2020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524742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smtClean="0"/>
              <a:t>Modifica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17/05/2020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493835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17/05/2020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86816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60570-40D4-4251-9C9D-483363F27B24}" type="datetimeFigureOut">
              <a:rPr lang="it-IT" smtClean="0"/>
              <a:t>17/05/2020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227540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 smtClean="0"/>
              <a:t>Fare clic per modificare lo stile del titolo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smtClean="0"/>
              <a:t>Modifica gli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60570-40D4-4251-9C9D-483363F27B24}" type="datetimeFigureOut">
              <a:rPr lang="it-IT" smtClean="0"/>
              <a:t>17/05/2020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0030991D-1417-4C50-8CA7-C547BD8E7EC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784235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9" r:id="rId1"/>
    <p:sldLayoutId id="2147483890" r:id="rId2"/>
    <p:sldLayoutId id="2147483891" r:id="rId3"/>
    <p:sldLayoutId id="2147483892" r:id="rId4"/>
    <p:sldLayoutId id="2147483893" r:id="rId5"/>
    <p:sldLayoutId id="2147483894" r:id="rId6"/>
    <p:sldLayoutId id="2147483895" r:id="rId7"/>
    <p:sldLayoutId id="2147483896" r:id="rId8"/>
    <p:sldLayoutId id="2147483897" r:id="rId9"/>
    <p:sldLayoutId id="2147483898" r:id="rId10"/>
    <p:sldLayoutId id="2147483899" r:id="rId11"/>
    <p:sldLayoutId id="2147483900" r:id="rId12"/>
    <p:sldLayoutId id="2147483901" r:id="rId13"/>
    <p:sldLayoutId id="2147483902" r:id="rId14"/>
    <p:sldLayoutId id="2147483903" r:id="rId15"/>
    <p:sldLayoutId id="214748390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pypi.org/project/requests/" TargetMode="External"/><Relationship Id="rId3" Type="http://schemas.openxmlformats.org/officeDocument/2006/relationships/hyperlink" Target="https://api.mongodb.com/python/current/tutorial.html" TargetMode="External"/><Relationship Id="rId7" Type="http://schemas.openxmlformats.org/officeDocument/2006/relationships/hyperlink" Target="https://docs.python.org/3/library/threading.html" TargetMode="External"/><Relationship Id="rId2" Type="http://schemas.openxmlformats.org/officeDocument/2006/relationships/hyperlink" Target="https://pypi.org/project/wordcloud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carpedm20/emoji/" TargetMode="External"/><Relationship Id="rId5" Type="http://schemas.openxmlformats.org/officeDocument/2006/relationships/hyperlink" Target="https://www.nltk.org/install.html" TargetMode="External"/><Relationship Id="rId10" Type="http://schemas.openxmlformats.org/officeDocument/2006/relationships/image" Target="../media/image7.png"/><Relationship Id="rId4" Type="http://schemas.openxmlformats.org/officeDocument/2006/relationships/hyperlink" Target="https://github.com/mariadb-corporation/mariadb-connector-python/wiki/usage.md" TargetMode="External"/><Relationship Id="rId9" Type="http://schemas.openxmlformats.org/officeDocument/2006/relationships/hyperlink" Target="https://docs.python.org/3/library/re.html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2353317" y="4909518"/>
            <a:ext cx="2957237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it-IT" altLang="it-IT" sz="1600" b="1" dirty="0" smtClean="0">
                <a:solidFill>
                  <a:prstClr val="black"/>
                </a:solidFill>
                <a:latin typeface="Palatino Linotype"/>
                <a:cs typeface="Arial" charset="0"/>
              </a:rPr>
              <a:t>STUDENTI</a:t>
            </a:r>
            <a:r>
              <a:rPr lang="it-IT" altLang="it-IT" sz="1600" b="1" dirty="0">
                <a:solidFill>
                  <a:prstClr val="black"/>
                </a:solidFill>
                <a:latin typeface="Palatino Linotype"/>
                <a:cs typeface="Arial" charset="0"/>
              </a:rPr>
              <a:t/>
            </a:r>
            <a:br>
              <a:rPr lang="it-IT" altLang="it-IT" sz="1600" b="1" dirty="0">
                <a:solidFill>
                  <a:prstClr val="black"/>
                </a:solidFill>
                <a:latin typeface="Palatino Linotype"/>
                <a:cs typeface="Arial" charset="0"/>
              </a:rPr>
            </a:br>
            <a:r>
              <a:rPr lang="it-IT" altLang="it-IT" sz="1600" b="1" dirty="0" smtClean="0">
                <a:solidFill>
                  <a:prstClr val="black"/>
                </a:solidFill>
                <a:latin typeface="Palatino Linotype"/>
                <a:cs typeface="Arial" charset="0"/>
              </a:rPr>
              <a:t>928995 Racanati Amedeo </a:t>
            </a:r>
            <a:r>
              <a:rPr lang="it-IT" sz="1600" dirty="0"/>
              <a:t>928869 </a:t>
            </a:r>
            <a:r>
              <a:rPr lang="it-IT" altLang="it-IT" sz="1600" b="1" dirty="0" smtClean="0">
                <a:solidFill>
                  <a:prstClr val="black"/>
                </a:solidFill>
                <a:latin typeface="Palatino Linotype"/>
                <a:cs typeface="Arial" charset="0"/>
              </a:rPr>
              <a:t>Sansonetti Angelo Pio</a:t>
            </a:r>
            <a:r>
              <a:rPr lang="it-IT" altLang="it-IT" sz="1600" dirty="0">
                <a:solidFill>
                  <a:prstClr val="black"/>
                </a:solidFill>
                <a:latin typeface="Palatino Linotype"/>
                <a:cs typeface="Arial" charset="0"/>
              </a:rPr>
              <a:t/>
            </a:r>
            <a:br>
              <a:rPr lang="it-IT" altLang="it-IT" sz="1600" dirty="0">
                <a:solidFill>
                  <a:prstClr val="black"/>
                </a:solidFill>
                <a:latin typeface="Palatino Linotype"/>
                <a:cs typeface="Arial" charset="0"/>
              </a:rPr>
            </a:br>
            <a:endParaRPr lang="it-IT" altLang="it-IT" sz="1600" dirty="0">
              <a:solidFill>
                <a:prstClr val="black"/>
              </a:solidFill>
              <a:latin typeface="Palatino Linotype"/>
              <a:cs typeface="Arial" charset="0"/>
            </a:endParaRPr>
          </a:p>
        </p:txBody>
      </p: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1896197" y="6099741"/>
            <a:ext cx="381635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</a:pPr>
            <a:r>
              <a:rPr lang="it-IT" altLang="it-IT" b="1" dirty="0">
                <a:solidFill>
                  <a:prstClr val="black"/>
                </a:solidFill>
                <a:latin typeface="Palatino Linotype"/>
                <a:cs typeface="Arial" charset="0"/>
              </a:rPr>
              <a:t>Anno Accademico </a:t>
            </a:r>
            <a:r>
              <a:rPr lang="it-IT" altLang="it-IT" b="1" dirty="0" smtClean="0">
                <a:solidFill>
                  <a:prstClr val="black"/>
                </a:solidFill>
                <a:latin typeface="Palatino Linotype"/>
                <a:cs typeface="Arial" charset="0"/>
              </a:rPr>
              <a:t>2019-20</a:t>
            </a:r>
            <a:endParaRPr lang="it-IT" altLang="it-IT" b="1" dirty="0">
              <a:solidFill>
                <a:prstClr val="black"/>
              </a:solidFill>
              <a:latin typeface="Palatino Linotype"/>
              <a:cs typeface="Arial" charset="0"/>
            </a:endParaRPr>
          </a:p>
        </p:txBody>
      </p:sp>
      <p:sp>
        <p:nvSpPr>
          <p:cNvPr id="8" name="CasellaDiTesto 7"/>
          <p:cNvSpPr txBox="1"/>
          <p:nvPr/>
        </p:nvSpPr>
        <p:spPr>
          <a:xfrm>
            <a:off x="2173022" y="3429001"/>
            <a:ext cx="799288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2500" b="1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Presentazione di progetto di Modelli e architetture avanzati di basi di dati</a:t>
            </a:r>
            <a:r>
              <a:rPr lang="it-IT" altLang="it-IT" sz="2500" b="1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Palatino Linotype"/>
                <a:cs typeface="Times New Roman" panose="02020603050405020304" pitchFamily="18" charset="0"/>
              </a:rPr>
              <a:t> </a:t>
            </a:r>
            <a:r>
              <a:rPr lang="it-IT" altLang="it-IT" sz="2500" b="1" i="1" dirty="0">
                <a:solidFill>
                  <a:prstClr val="black"/>
                </a:solidFill>
                <a:latin typeface="Palatino Linotype"/>
                <a:cs typeface="Times New Roman" panose="02020603050405020304" pitchFamily="18" charset="0"/>
              </a:rPr>
              <a:t/>
            </a:r>
            <a:br>
              <a:rPr lang="it-IT" altLang="it-IT" sz="2500" b="1" i="1" dirty="0">
                <a:solidFill>
                  <a:prstClr val="black"/>
                </a:solidFill>
                <a:latin typeface="Palatino Linotype"/>
                <a:cs typeface="Times New Roman" panose="02020603050405020304" pitchFamily="18" charset="0"/>
              </a:rPr>
            </a:br>
            <a:endParaRPr lang="it-IT" sz="2000" dirty="0">
              <a:solidFill>
                <a:prstClr val="black"/>
              </a:solidFill>
              <a:latin typeface="Palatino Linotype"/>
              <a:cs typeface="Arial" charset="0"/>
            </a:endParaRPr>
          </a:p>
        </p:txBody>
      </p:sp>
      <p:sp>
        <p:nvSpPr>
          <p:cNvPr id="10" name="CasellaDiTesto 9"/>
          <p:cNvSpPr txBox="1"/>
          <p:nvPr/>
        </p:nvSpPr>
        <p:spPr>
          <a:xfrm>
            <a:off x="2173022" y="1268760"/>
            <a:ext cx="799288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25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UNIVERSIT</a:t>
            </a:r>
            <a:r>
              <a:rPr lang="it-IT" sz="25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À DEGLI STUDI DI TORINO</a:t>
            </a: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25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DIPARTIMENTO DI INFORMATICA</a:t>
            </a: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it-IT" altLang="it-IT" sz="2500" b="1" dirty="0">
              <a:solidFill>
                <a:prstClr val="black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Palatino Linotype" panose="02040502050505030304" pitchFamily="18" charset="0"/>
              <a:cs typeface="Times New Roman" panose="02020603050405020304" pitchFamily="18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altLang="it-IT" sz="2500" b="1" i="1" dirty="0">
                <a:solidFill>
                  <a:srgbClr val="9A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Corso di Laurea Magistrale in Informatica</a:t>
            </a:r>
            <a:r>
              <a:rPr lang="it-IT" altLang="it-IT" sz="2500" b="1" i="1" dirty="0">
                <a:solidFill>
                  <a:prstClr val="black"/>
                </a:solidFill>
                <a:latin typeface="Palatino Linotype"/>
                <a:cs typeface="Times New Roman" panose="02020603050405020304" pitchFamily="18" charset="0"/>
              </a:rPr>
              <a:t/>
            </a:r>
            <a:br>
              <a:rPr lang="it-IT" altLang="it-IT" sz="2500" b="1" i="1" dirty="0">
                <a:solidFill>
                  <a:prstClr val="black"/>
                </a:solidFill>
                <a:latin typeface="Palatino Linotype"/>
                <a:cs typeface="Times New Roman" panose="02020603050405020304" pitchFamily="18" charset="0"/>
              </a:rPr>
            </a:br>
            <a:endParaRPr lang="it-IT" sz="2000" i="1" dirty="0">
              <a:solidFill>
                <a:prstClr val="black"/>
              </a:solidFill>
              <a:latin typeface="Palatino Linotype"/>
              <a:cs typeface="Arial" charset="0"/>
            </a:endParaRPr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5974" y="182054"/>
            <a:ext cx="1067970" cy="1086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52909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12" y="1165709"/>
            <a:ext cx="11615672" cy="3992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012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827707" y="491613"/>
            <a:ext cx="8596668" cy="1320800"/>
          </a:xfrm>
        </p:spPr>
        <p:txBody>
          <a:bodyPr/>
          <a:lstStyle/>
          <a:p>
            <a:pPr algn="ctr"/>
            <a:r>
              <a:rPr lang="it-IT" dirty="0" smtClean="0"/>
              <a:t>Schema dei dati</a:t>
            </a:r>
            <a:endParaRPr lang="it-IT" dirty="0"/>
          </a:p>
        </p:txBody>
      </p:sp>
      <p:pic>
        <p:nvPicPr>
          <p:cNvPr id="7" name="Immagin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6116" y="1270000"/>
            <a:ext cx="7879851" cy="4890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29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olo 1"/>
          <p:cNvSpPr>
            <a:spLocks noGrp="1"/>
          </p:cNvSpPr>
          <p:nvPr>
            <p:ph type="title"/>
          </p:nvPr>
        </p:nvSpPr>
        <p:spPr>
          <a:xfrm>
            <a:off x="0" y="1026849"/>
            <a:ext cx="3932809" cy="1320800"/>
          </a:xfrm>
        </p:spPr>
        <p:txBody>
          <a:bodyPr>
            <a:normAutofit fontScale="90000"/>
          </a:bodyPr>
          <a:lstStyle/>
          <a:p>
            <a:pPr algn="ctr"/>
            <a:r>
              <a:rPr lang="it-IT" dirty="0" smtClean="0"/>
              <a:t>Architettura</a:t>
            </a:r>
            <a:br>
              <a:rPr lang="it-IT" dirty="0" smtClean="0"/>
            </a:br>
            <a:r>
              <a:rPr lang="it-IT" dirty="0" smtClean="0"/>
              <a:t>degli shard in MongoDB</a:t>
            </a:r>
            <a:endParaRPr lang="it-IT" dirty="0"/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8981" y="392743"/>
            <a:ext cx="8283837" cy="6059606"/>
          </a:xfrm>
          <a:prstGeom prst="rect">
            <a:avLst/>
          </a:prstGeom>
        </p:spPr>
      </p:pic>
      <p:sp>
        <p:nvSpPr>
          <p:cNvPr id="2" name="CasellaDiTesto 1"/>
          <p:cNvSpPr txBox="1"/>
          <p:nvPr/>
        </p:nvSpPr>
        <p:spPr>
          <a:xfrm>
            <a:off x="396909" y="2814715"/>
            <a:ext cx="340207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smtClean="0"/>
              <a:t>La comunicazione tra i due host è </a:t>
            </a:r>
            <a:r>
              <a:rPr lang="it-IT" dirty="0" smtClean="0"/>
              <a:t>gestita </a:t>
            </a:r>
            <a:r>
              <a:rPr lang="it-IT" dirty="0" smtClean="0"/>
              <a:t>mediante richieste HTTP POST con </a:t>
            </a:r>
            <a:r>
              <a:rPr lang="it-IT" dirty="0" smtClean="0"/>
              <a:t>dati codificati in </a:t>
            </a:r>
            <a:r>
              <a:rPr lang="it-IT" dirty="0" smtClean="0"/>
              <a:t>JSON</a:t>
            </a:r>
            <a:r>
              <a:rPr lang="it-IT" dirty="0" smtClean="0"/>
              <a:t>.</a:t>
            </a:r>
          </a:p>
          <a:p>
            <a:r>
              <a:rPr lang="it-IT" dirty="0" smtClean="0"/>
              <a:t>Ogni </a:t>
            </a:r>
            <a:r>
              <a:rPr lang="it-IT" dirty="0" err="1" smtClean="0"/>
              <a:t>host</a:t>
            </a:r>
            <a:r>
              <a:rPr lang="it-IT" dirty="0" smtClean="0"/>
              <a:t> comunica direttamente col proprio </a:t>
            </a:r>
            <a:r>
              <a:rPr lang="it-IT" dirty="0" err="1" smtClean="0"/>
              <a:t>shard</a:t>
            </a:r>
            <a:r>
              <a:rPr lang="it-IT" dirty="0" smtClean="0"/>
              <a:t> in locale</a:t>
            </a:r>
            <a:r>
              <a:rPr lang="it-IT" dirty="0" smtClean="0"/>
              <a:t>	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584238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/>
          <p:cNvSpPr>
            <a:spLocks noGrp="1"/>
          </p:cNvSpPr>
          <p:nvPr>
            <p:ph type="title"/>
          </p:nvPr>
        </p:nvSpPr>
        <p:spPr>
          <a:xfrm>
            <a:off x="548380" y="105508"/>
            <a:ext cx="8596668" cy="1320800"/>
          </a:xfrm>
        </p:spPr>
        <p:txBody>
          <a:bodyPr>
            <a:normAutofit/>
          </a:bodyPr>
          <a:lstStyle/>
          <a:p>
            <a:pPr algn="ctr"/>
            <a:r>
              <a:rPr lang="it-IT" dirty="0" smtClean="0"/>
              <a:t>Pipeline di elaborazione delle mappe in MongoDB</a:t>
            </a:r>
            <a:endParaRPr lang="it-IT" dirty="0"/>
          </a:p>
        </p:txBody>
      </p:sp>
      <p:pic>
        <p:nvPicPr>
          <p:cNvPr id="1026" name="Picture 2" descr="D:\Download\Untitled Diagram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01" y="1567229"/>
            <a:ext cx="8296275" cy="4895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60662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1">
            <a:extLst>
              <a:ext uri="{FF2B5EF4-FFF2-40B4-BE49-F238E27FC236}">
                <a16:creationId xmlns:a16="http://schemas.microsoft.com/office/drawing/2014/main" xmlns="" id="{7B0C3D97-6237-4821-A89A-70162D11EE48}"/>
              </a:ext>
            </a:extLst>
          </p:cNvPr>
          <p:cNvSpPr txBox="1">
            <a:spLocks/>
          </p:cNvSpPr>
          <p:nvPr/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it-IT" sz="2500" b="1" dirty="0" smtClean="0">
                <a:solidFill>
                  <a:prstClr val="black"/>
                </a:solidFill>
                <a:latin typeface="+mn-lt"/>
                <a:ea typeface="+mn-ea"/>
                <a:cs typeface="Times New Roman" panose="02020603050405020304" pitchFamily="18" charset="0"/>
              </a:rPr>
              <a:t>Elenco mappe generate</a:t>
            </a:r>
            <a:endParaRPr lang="it-IT" sz="2500" b="1" dirty="0">
              <a:solidFill>
                <a:prstClr val="black"/>
              </a:solidFill>
              <a:latin typeface="+mn-lt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xmlns="" id="{058AAC17-44C7-46C9-846C-ACC9953C05A1}"/>
              </a:ext>
            </a:extLst>
          </p:cNvPr>
          <p:cNvSpPr txBox="1">
            <a:spLocks/>
          </p:cNvSpPr>
          <p:nvPr/>
        </p:nvSpPr>
        <p:spPr>
          <a:xfrm>
            <a:off x="4917831" y="1231741"/>
            <a:ext cx="4038600" cy="18288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it-IT" sz="2900" b="1" i="1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Hashtag Map:</a:t>
            </a:r>
          </a:p>
          <a:p>
            <a:pPr marL="0" indent="0">
              <a:buFont typeface="Wingdings 3" charset="2"/>
              <a:buNone/>
            </a:pPr>
            <a:r>
              <a:rPr lang="it-IT" sz="1900" dirty="0" smtClean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/>
            </a:r>
            <a:br>
              <a:rPr lang="it-IT" sz="1900" dirty="0" smtClean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</a:b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per ciascun sentimento viene creata una mappa, che a sua volta contiene tante mappe per ciascun </a:t>
            </a:r>
            <a:r>
              <a:rPr lang="it-IT" sz="1900" dirty="0" err="1" smtClean="0">
                <a:solidFill>
                  <a:prstClr val="black"/>
                </a:solidFill>
                <a:cs typeface="Times New Roman" panose="02020603050405020304" pitchFamily="18" charset="0"/>
              </a:rPr>
              <a:t>hashtag</a:t>
            </a: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 </a:t>
            </a: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con le </a:t>
            </a: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relative frequenze</a:t>
            </a:r>
            <a:endParaRPr lang="it-IT" sz="1900" dirty="0">
              <a:solidFill>
                <a:prstClr val="black"/>
              </a:solidFill>
              <a:cs typeface="Times New Roman" panose="02020603050405020304" pitchFamily="18" charset="0"/>
            </a:endParaRPr>
          </a:p>
        </p:txBody>
      </p:sp>
      <p:sp>
        <p:nvSpPr>
          <p:cNvPr id="7" name="Segnaposto contenuto 3">
            <a:extLst>
              <a:ext uri="{FF2B5EF4-FFF2-40B4-BE49-F238E27FC236}">
                <a16:creationId xmlns:a16="http://schemas.microsoft.com/office/drawing/2014/main" xmlns="" id="{68B22042-CC38-489D-A7E5-BCC033D653FC}"/>
              </a:ext>
            </a:extLst>
          </p:cNvPr>
          <p:cNvSpPr txBox="1">
            <a:spLocks/>
          </p:cNvSpPr>
          <p:nvPr/>
        </p:nvSpPr>
        <p:spPr>
          <a:xfrm>
            <a:off x="457200" y="3645882"/>
            <a:ext cx="4038600" cy="2116832"/>
          </a:xfrm>
          <a:prstGeom prst="rect">
            <a:avLst/>
          </a:prstGeom>
        </p:spPr>
        <p:txBody>
          <a:bodyPr>
            <a:normAutofit fontScale="925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it-IT" sz="2900" b="1" i="1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Emoji Map:</a:t>
            </a:r>
          </a:p>
          <a:p>
            <a:pPr marL="0" indent="0">
              <a:buNone/>
            </a:pPr>
            <a:r>
              <a:rPr lang="it-IT" sz="1900" dirty="0" smtClean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/>
            </a:r>
            <a:br>
              <a:rPr lang="it-IT" sz="1900" dirty="0" smtClean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</a:br>
            <a:r>
              <a:rPr lang="it-IT" sz="1900" dirty="0">
                <a:solidFill>
                  <a:prstClr val="black"/>
                </a:solidFill>
                <a:cs typeface="Times New Roman" panose="02020603050405020304" pitchFamily="18" charset="0"/>
              </a:rPr>
              <a:t>per </a:t>
            </a: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ciascun sentimento viene </a:t>
            </a:r>
            <a:r>
              <a:rPr lang="it-IT" sz="1900" dirty="0">
                <a:solidFill>
                  <a:prstClr val="black"/>
                </a:solidFill>
                <a:cs typeface="Times New Roman" panose="02020603050405020304" pitchFamily="18" charset="0"/>
              </a:rPr>
              <a:t>creata una mappa, che a sua volta contiene tante mappe per </a:t>
            </a: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ciascuna </a:t>
            </a:r>
            <a:r>
              <a:rPr lang="it-IT" sz="1900" dirty="0">
                <a:solidFill>
                  <a:prstClr val="black"/>
                </a:solidFill>
                <a:cs typeface="Times New Roman" panose="02020603050405020304" pitchFamily="18" charset="0"/>
              </a:rPr>
              <a:t>emoji o emoticon</a:t>
            </a: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 </a:t>
            </a: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con le </a:t>
            </a:r>
            <a:r>
              <a:rPr lang="it-IT" sz="1900" dirty="0">
                <a:solidFill>
                  <a:prstClr val="black"/>
                </a:solidFill>
                <a:cs typeface="Times New Roman" panose="02020603050405020304" pitchFamily="18" charset="0"/>
              </a:rPr>
              <a:t>relative frequenze</a:t>
            </a:r>
          </a:p>
          <a:p>
            <a:pPr marL="0" indent="0">
              <a:buFont typeface="Wingdings 3" charset="2"/>
              <a:buNone/>
            </a:pPr>
            <a:endParaRPr lang="it-IT" dirty="0"/>
          </a:p>
        </p:txBody>
      </p:sp>
      <p:sp>
        <p:nvSpPr>
          <p:cNvPr id="9" name="Segnaposto contenuto 2">
            <a:extLst>
              <a:ext uri="{FF2B5EF4-FFF2-40B4-BE49-F238E27FC236}">
                <a16:creationId xmlns:a16="http://schemas.microsoft.com/office/drawing/2014/main" xmlns="" id="{058AAC17-44C7-46C9-846C-ACC9953C05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231741"/>
            <a:ext cx="4038600" cy="182880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it-IT" sz="2900" b="1" i="1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Word Map</a:t>
            </a:r>
            <a:r>
              <a:rPr lang="it-IT" sz="2900" b="1" i="1" dirty="0">
                <a:solidFill>
                  <a:prstClr val="black"/>
                </a:solidFill>
                <a:cs typeface="Times New Roman" panose="02020603050405020304" pitchFamily="18" charset="0"/>
              </a:rPr>
              <a:t>:</a:t>
            </a:r>
          </a:p>
          <a:p>
            <a:pPr marL="0" indent="0">
              <a:buNone/>
            </a:pPr>
            <a:r>
              <a:rPr lang="it-IT" sz="19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  <a:t/>
            </a:r>
            <a:br>
              <a:rPr lang="it-IT" sz="1900" dirty="0"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Times New Roman" panose="02020603050405020304" pitchFamily="18" charset="0"/>
              </a:rPr>
            </a:br>
            <a:r>
              <a:rPr lang="it-IT" sz="1900" dirty="0" smtClean="0">
                <a:solidFill>
                  <a:prstClr val="black"/>
                </a:solidFill>
                <a:cs typeface="Times New Roman" panose="02020603050405020304" pitchFamily="18" charset="0"/>
              </a:rPr>
              <a:t>per ciascuna parola relativa ad un sentimento viene generata una mappa relativa alla frequenza nei tweet</a:t>
            </a:r>
            <a:endParaRPr lang="it-IT" sz="1900" dirty="0">
              <a:solidFill>
                <a:prstClr val="black"/>
              </a:solidFill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2762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8851"/>
            <a:ext cx="12333646" cy="6440166"/>
          </a:xfrm>
          <a:prstGeom prst="rect">
            <a:avLst/>
          </a:prstGeom>
        </p:spPr>
      </p:pic>
      <p:sp>
        <p:nvSpPr>
          <p:cNvPr id="4" name="Titolo 1"/>
          <p:cNvSpPr>
            <a:spLocks noGrp="1"/>
          </p:cNvSpPr>
          <p:nvPr>
            <p:ph type="title"/>
          </p:nvPr>
        </p:nvSpPr>
        <p:spPr>
          <a:xfrm>
            <a:off x="1606062" y="0"/>
            <a:ext cx="8299938" cy="1320800"/>
          </a:xfrm>
        </p:spPr>
        <p:txBody>
          <a:bodyPr>
            <a:normAutofit/>
          </a:bodyPr>
          <a:lstStyle/>
          <a:p>
            <a:pPr algn="ctr"/>
            <a:r>
              <a:rPr lang="it-IT" dirty="0" smtClean="0"/>
              <a:t>Schema delle </a:t>
            </a:r>
            <a:r>
              <a:rPr lang="it-IT" dirty="0" smtClean="0"/>
              <a:t>classi implementate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341790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9773" y="161335"/>
            <a:ext cx="6681408" cy="783771"/>
          </a:xfrm>
        </p:spPr>
        <p:txBody>
          <a:bodyPr>
            <a:normAutofit fontScale="90000"/>
          </a:bodyPr>
          <a:lstStyle/>
          <a:p>
            <a:r>
              <a:rPr lang="it-IT" dirty="0" smtClean="0"/>
              <a:t>PRINCIPALI LIBRERIE UTILIZZATE</a:t>
            </a:r>
            <a:endParaRPr lang="it-IT" dirty="0"/>
          </a:p>
        </p:txBody>
      </p:sp>
      <p:graphicFrame>
        <p:nvGraphicFramePr>
          <p:cNvPr id="4" name="Tabel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9185739"/>
              </p:ext>
            </p:extLst>
          </p:nvPr>
        </p:nvGraphicFramePr>
        <p:xfrm>
          <a:off x="1393373" y="986971"/>
          <a:ext cx="9327846" cy="550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0361">
                  <a:extLst>
                    <a:ext uri="{9D8B030D-6E8A-4147-A177-3AD203B41FA5}">
                      <a16:colId xmlns:a16="http://schemas.microsoft.com/office/drawing/2014/main" xmlns="" val="2877867300"/>
                    </a:ext>
                  </a:extLst>
                </a:gridCol>
                <a:gridCol w="2946400">
                  <a:extLst>
                    <a:ext uri="{9D8B030D-6E8A-4147-A177-3AD203B41FA5}">
                      <a16:colId xmlns:a16="http://schemas.microsoft.com/office/drawing/2014/main" xmlns="" val="674584734"/>
                    </a:ext>
                  </a:extLst>
                </a:gridCol>
                <a:gridCol w="4151085">
                  <a:extLst>
                    <a:ext uri="{9D8B030D-6E8A-4147-A177-3AD203B41FA5}">
                      <a16:colId xmlns:a16="http://schemas.microsoft.com/office/drawing/2014/main" xmlns="" val="20742335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Nome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Scopo 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Riferimento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590617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wordcloud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Generatore</a:t>
                      </a:r>
                      <a:r>
                        <a:rPr lang="it-IT" baseline="0" dirty="0" smtClean="0"/>
                        <a:t> di word cloud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solidFill>
                            <a:schemeClr val="tx1"/>
                          </a:solidFill>
                          <a:hlinkClick r:id="rId2"/>
                        </a:rPr>
                        <a:t>https://pypi.org/project/wordcloud/</a:t>
                      </a:r>
                      <a:endParaRPr lang="it-IT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1524496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pymongo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Utilizzo di MongoDB</a:t>
                      </a:r>
                      <a:r>
                        <a:rPr lang="it-IT" baseline="0" dirty="0" smtClean="0"/>
                        <a:t> in ambiente Python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solidFill>
                            <a:schemeClr val="tx1"/>
                          </a:solidFill>
                          <a:hlinkClick r:id="rId3"/>
                        </a:rPr>
                        <a:t>https://api.mongodb.com/python/current/tutorial.html</a:t>
                      </a:r>
                      <a:endParaRPr lang="it-IT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860423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mariadb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Utilizzo di MariaDB</a:t>
                      </a:r>
                      <a:r>
                        <a:rPr lang="it-IT" baseline="0" dirty="0" smtClean="0"/>
                        <a:t> in ambiente Python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solidFill>
                            <a:schemeClr val="tx1"/>
                          </a:solidFill>
                          <a:hlinkClick r:id="rId4"/>
                        </a:rPr>
                        <a:t>https://github.com/mariadb-corporation/mariadb-connector-python/wiki/usage.md</a:t>
                      </a:r>
                      <a:endParaRPr lang="it-IT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6866622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nltk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Tokenizzazione,</a:t>
                      </a:r>
                      <a:r>
                        <a:rPr lang="it-IT" baseline="0" dirty="0" smtClean="0"/>
                        <a:t> Pos tagging, Lemmatizzazione, 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5"/>
                        </a:rPr>
                        <a:t>https://www.nltk.org/install.html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723784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emoji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Gestione degli</a:t>
                      </a:r>
                      <a:r>
                        <a:rPr lang="it-IT" baseline="0" dirty="0" smtClean="0"/>
                        <a:t> emoji durante il processing dei tweet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6"/>
                        </a:rPr>
                        <a:t>https://github.com/carpedm20/emoji/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943680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threading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Gestione elaborazione</a:t>
                      </a:r>
                      <a:r>
                        <a:rPr lang="it-IT" baseline="0" dirty="0" smtClean="0"/>
                        <a:t> distribuita degli shard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7"/>
                        </a:rPr>
                        <a:t>https://docs.python.org/3/library/threading.html</a:t>
                      </a:r>
                      <a:endParaRPr lang="it-IT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4608363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requests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Gestione richieste http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8"/>
                        </a:rPr>
                        <a:t>https://pypi.org/project/requests/</a:t>
                      </a:r>
                      <a:endParaRPr lang="it-IT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0880534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 smtClean="0"/>
                        <a:t>re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/>
                        <a:t>Utilizzo di espressioni regolari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smtClean="0">
                          <a:hlinkClick r:id="rId9"/>
                        </a:rPr>
                        <a:t>https://docs.python.org/3/library/re.html</a:t>
                      </a:r>
                      <a:endParaRPr lang="it-IT" dirty="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4163736797"/>
                  </a:ext>
                </a:extLst>
              </a:tr>
            </a:tbl>
          </a:graphicData>
        </a:graphic>
      </p:graphicFrame>
      <p:pic>
        <p:nvPicPr>
          <p:cNvPr id="6" name="Immagine 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4781" y="92928"/>
            <a:ext cx="2310190" cy="810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206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 smtClean="0"/>
              <a:t>Word cloud dei tweet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698573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152209" cy="5343050"/>
          </a:xfrm>
          <a:prstGeom prst="rect">
            <a:avLst/>
          </a:prstGeom>
        </p:spPr>
      </p:pic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Anger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Fuck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Shit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#fuckyou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#annoying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Bitch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Mad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</p:txBody>
      </p:sp>
    </p:spTree>
    <p:extLst>
      <p:ext uri="{BB962C8B-B14F-4D97-AF65-F5344CB8AC3E}">
        <p14:creationId xmlns:p14="http://schemas.microsoft.com/office/powerpoint/2010/main" val="2357688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Anticipation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#Excited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#cantwait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Tomorrow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Tonight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#soexcited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#waiting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152209" cy="5343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064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Disgust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Fuck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Shit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#bored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Nigga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289226" cy="5445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3450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Fear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8" y="2060812"/>
            <a:ext cx="357571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Happy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#awkaward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#scared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#decisions</a:t>
            </a: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#awk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#thatawkwardmoment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289226" cy="5445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9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Joy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Laugh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Good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Happy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Birthday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/>
              <a:t>G</a:t>
            </a:r>
            <a:r>
              <a:rPr lang="it-IT" sz="2400" dirty="0" smtClean="0"/>
              <a:t>reat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Nice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/>
              <a:t>F</a:t>
            </a:r>
            <a:r>
              <a:rPr lang="it-IT" sz="2400" dirty="0" smtClean="0"/>
              <a:t>unny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sz="2400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205" y="1412592"/>
            <a:ext cx="7264235" cy="5426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8449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Sadness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Laugh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Feel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Cry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Leave</a:t>
            </a: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Sad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</a:t>
            </a:r>
            <a:r>
              <a:rPr lang="it-IT" sz="2400" dirty="0" err="1" smtClean="0"/>
              <a:t>sadtweet</a:t>
            </a:r>
            <a:endParaRPr lang="it-IT" sz="2400" dirty="0" smtClean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289226" cy="5445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02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Surprise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#wtf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#weird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#wow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#omg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#random</a:t>
            </a:r>
            <a:endParaRPr lang="it-IT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</a:t>
            </a:r>
            <a:r>
              <a:rPr lang="it-IT" sz="2400" dirty="0" err="1" smtClean="0"/>
              <a:t>crazy</a:t>
            </a:r>
            <a:endParaRPr lang="it-IT" sz="2400" dirty="0" smtClean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58883"/>
            <a:ext cx="7361120" cy="5499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3773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Trust</a:t>
            </a:r>
            <a:endParaRPr lang="it-IT" dirty="0"/>
          </a:p>
        </p:txBody>
      </p:sp>
      <p:sp>
        <p:nvSpPr>
          <p:cNvPr id="8" name="CasellaDiTesto 7"/>
          <p:cNvSpPr txBox="1"/>
          <p:nvPr/>
        </p:nvSpPr>
        <p:spPr>
          <a:xfrm>
            <a:off x="7861111" y="1412592"/>
            <a:ext cx="414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 smtClean="0">
                <a:solidFill>
                  <a:srgbClr val="FF0000"/>
                </a:solidFill>
              </a:rPr>
              <a:t>Termini più frequenti</a:t>
            </a:r>
            <a:endParaRPr lang="it-IT" sz="2800" dirty="0">
              <a:solidFill>
                <a:srgbClr val="FF0000"/>
              </a:solidFill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8297839" y="2060812"/>
            <a:ext cx="341194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Happy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Birthday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Hope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Best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Sweet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#love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smtClean="0"/>
              <a:t>Mom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2400" dirty="0" err="1" smtClean="0"/>
              <a:t>Forever</a:t>
            </a:r>
            <a:endParaRPr lang="it-IT" sz="2400" dirty="0" smtClean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2592"/>
            <a:ext cx="7287904" cy="5444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9726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Anger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0309" y="1155342"/>
            <a:ext cx="7313875" cy="5463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401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Anticipation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3854" y="1155342"/>
            <a:ext cx="7526785" cy="5622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00409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Disgust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0135" y="1155342"/>
            <a:ext cx="7414224" cy="553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47129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Fear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001" y="1155342"/>
            <a:ext cx="7432492" cy="5552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569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Anticipation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8099" y="1155342"/>
            <a:ext cx="7485459" cy="5592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345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Sadness</a:t>
            </a:r>
            <a:endParaRPr lang="it-IT" dirty="0"/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6515" y="1155342"/>
            <a:ext cx="7761463" cy="5798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3251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Surprise</a:t>
            </a:r>
            <a:endParaRPr lang="it-IT" dirty="0"/>
          </a:p>
        </p:txBody>
      </p:sp>
      <p:pic>
        <p:nvPicPr>
          <p:cNvPr id="2" name="Immagin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0456" y="1155342"/>
            <a:ext cx="7633581" cy="570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06013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sellaDiTesto 5"/>
          <p:cNvSpPr txBox="1"/>
          <p:nvPr/>
        </p:nvSpPr>
        <p:spPr>
          <a:xfrm>
            <a:off x="3875964" y="232012"/>
            <a:ext cx="4162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5400" dirty="0" smtClean="0">
                <a:solidFill>
                  <a:srgbClr val="5FCBEF"/>
                </a:solidFill>
                <a:ea typeface="+mj-ea"/>
                <a:cs typeface="+mj-cs"/>
              </a:rPr>
              <a:t>Trust</a:t>
            </a:r>
            <a:endParaRPr lang="it-IT" dirty="0"/>
          </a:p>
        </p:txBody>
      </p:sp>
      <p:pic>
        <p:nvPicPr>
          <p:cNvPr id="3" name="Immagin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4637" y="1155342"/>
            <a:ext cx="7405219" cy="5532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237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2369658" y="3343703"/>
            <a:ext cx="5245793" cy="610540"/>
          </a:xfrm>
        </p:spPr>
        <p:txBody>
          <a:bodyPr>
            <a:normAutofit fontScale="90000"/>
          </a:bodyPr>
          <a:lstStyle/>
          <a:p>
            <a:r>
              <a:rPr lang="it-IT" dirty="0" smtClean="0"/>
              <a:t>STATISTICHE REALIZZATE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630500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/>
          <p:cNvSpPr/>
          <p:nvPr/>
        </p:nvSpPr>
        <p:spPr>
          <a:xfrm>
            <a:off x="564108" y="269741"/>
            <a:ext cx="926228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4000" dirty="0" smtClean="0">
                <a:solidFill>
                  <a:srgbClr val="5FCBEF"/>
                </a:solidFill>
                <a:ea typeface="+mj-ea"/>
                <a:cs typeface="+mj-cs"/>
              </a:rPr>
              <a:t>FREQUENZA DEI TERMINI CONTEGGIATI </a:t>
            </a:r>
            <a:endParaRPr lang="it-IT" dirty="0"/>
          </a:p>
        </p:txBody>
      </p:sp>
      <p:pic>
        <p:nvPicPr>
          <p:cNvPr id="8" name="Immagin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659" y="1123322"/>
            <a:ext cx="8952932" cy="45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1508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673621" y="145576"/>
            <a:ext cx="8596668" cy="1287439"/>
          </a:xfrm>
        </p:spPr>
        <p:txBody>
          <a:bodyPr>
            <a:normAutofit/>
          </a:bodyPr>
          <a:lstStyle/>
          <a:p>
            <a:pPr algn="ctr"/>
            <a:r>
              <a:rPr lang="it-IT" b="1" dirty="0" smtClean="0"/>
              <a:t>USO DELLE RISORSE LESSICALI</a:t>
            </a:r>
            <a:endParaRPr lang="it-IT" sz="4800" dirty="0"/>
          </a:p>
        </p:txBody>
      </p:sp>
      <p:pic>
        <p:nvPicPr>
          <p:cNvPr id="4" name="Immagine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8" r="161"/>
          <a:stretch/>
        </p:blipFill>
        <p:spPr>
          <a:xfrm>
            <a:off x="1345364" y="1156363"/>
            <a:ext cx="9253181" cy="2552700"/>
          </a:xfrm>
          <a:prstGeom prst="rect">
            <a:avLst/>
          </a:prstGeom>
        </p:spPr>
      </p:pic>
      <p:sp>
        <p:nvSpPr>
          <p:cNvPr id="3" name="CasellaDiTesto 2"/>
          <p:cNvSpPr txBox="1"/>
          <p:nvPr/>
        </p:nvSpPr>
        <p:spPr>
          <a:xfrm>
            <a:off x="1154624" y="4215539"/>
            <a:ext cx="1006614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smtClean="0"/>
              <a:t>Analizzando grafico precedente, si è deciso di scartare le parole che hanno avuto una occorrenza inferiore a 10.</a:t>
            </a:r>
          </a:p>
          <a:p>
            <a:r>
              <a:rPr lang="it-IT" dirty="0" smtClean="0"/>
              <a:t>Il primo gruppo di colonne indica </a:t>
            </a:r>
            <a:r>
              <a:rPr lang="it-IT" dirty="0" smtClean="0"/>
              <a:t>quante delle parole conteggiate sono presenti anche nelle risorse. Il secondo gruppo indica quante parole delle risorse sono state trovate anche nei nostri conteggi.</a:t>
            </a:r>
            <a:endParaRPr lang="it-IT" dirty="0" smtClean="0"/>
          </a:p>
          <a:p>
            <a:r>
              <a:rPr lang="it-IT" dirty="0" smtClean="0"/>
              <a:t>L’ultima colonna indica le nuove parole trovate non appartenenti a </a:t>
            </a:r>
            <a:r>
              <a:rPr lang="it-IT" dirty="0" smtClean="0"/>
              <a:t>nessuna risorsa</a:t>
            </a:r>
            <a:r>
              <a:rPr lang="it-IT" dirty="0" smtClean="0"/>
              <a:t>.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109537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660720" y="3334487"/>
            <a:ext cx="8596668" cy="3880773"/>
          </a:xfrm>
        </p:spPr>
        <p:txBody>
          <a:bodyPr/>
          <a:lstStyle/>
          <a:p>
            <a:r>
              <a:rPr lang="it-IT" dirty="0"/>
              <a:t>La creazione di un cluster ha permesso di ridurre i tempi di </a:t>
            </a:r>
            <a:r>
              <a:rPr lang="it-IT" dirty="0" smtClean="0"/>
              <a:t>analisi </a:t>
            </a:r>
            <a:r>
              <a:rPr lang="it-IT" dirty="0"/>
              <a:t>dei tweet di oltre il 50</a:t>
            </a:r>
            <a:r>
              <a:rPr lang="it-IT" dirty="0" smtClean="0"/>
              <a:t>%, a </a:t>
            </a:r>
            <a:r>
              <a:rPr lang="it-IT" dirty="0"/>
              <a:t>fronte però di un maggior utilizzo di risorse dovuto all'aggiunta di un </a:t>
            </a:r>
            <a:r>
              <a:rPr lang="it-IT" dirty="0" smtClean="0"/>
              <a:t>secondo nodo</a:t>
            </a:r>
            <a:r>
              <a:rPr lang="it-IT" dirty="0"/>
              <a:t>.</a:t>
            </a:r>
            <a:br>
              <a:rPr lang="it-IT" dirty="0"/>
            </a:br>
            <a:r>
              <a:rPr lang="it-IT" dirty="0"/>
              <a:t>Le operazioni di I/O si aggirano in entrambi i casi su 3 MB al secondo con fasi oscillatorie.</a:t>
            </a:r>
            <a:br>
              <a:rPr lang="it-IT" dirty="0"/>
            </a:br>
            <a:r>
              <a:rPr lang="it-IT" dirty="0"/>
              <a:t/>
            </a:r>
            <a:br>
              <a:rPr lang="it-IT" dirty="0"/>
            </a:br>
            <a:r>
              <a:rPr lang="it-IT" smtClean="0"/>
              <a:t>Inoltre </a:t>
            </a:r>
            <a:r>
              <a:rPr lang="it-IT" dirty="0"/>
              <a:t>la fase di inizializzazione per il </a:t>
            </a:r>
            <a:r>
              <a:rPr lang="it-IT" dirty="0" smtClean="0"/>
              <a:t>cluster in mongodb </a:t>
            </a:r>
            <a:r>
              <a:rPr lang="it-IT" dirty="0"/>
              <a:t>è risultata 4 volte più lenta, a causa </a:t>
            </a:r>
            <a:r>
              <a:rPr lang="it-IT" dirty="0" smtClean="0"/>
              <a:t>della </a:t>
            </a:r>
            <a:r>
              <a:rPr lang="it-IT" dirty="0"/>
              <a:t>necessità di dover suddividere i dati nei 3 shard.</a:t>
            </a:r>
          </a:p>
        </p:txBody>
      </p:sp>
      <p:pic>
        <p:nvPicPr>
          <p:cNvPr id="1027" name="Picture 3" descr="C:\Users\Amedeo\Desktop\images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168" y="1124158"/>
            <a:ext cx="1306562" cy="1512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C:\Users\Amedeo\Desktop\download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216" y="1256984"/>
            <a:ext cx="2143125" cy="1609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sellaDiTesto 3"/>
          <p:cNvSpPr txBox="1"/>
          <p:nvPr/>
        </p:nvSpPr>
        <p:spPr>
          <a:xfrm>
            <a:off x="6857999" y="1124158"/>
            <a:ext cx="254390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smtClean="0"/>
              <a:t>MONGO DB</a:t>
            </a:r>
          </a:p>
          <a:p>
            <a:endParaRPr lang="it-IT" sz="1400" dirty="0" smtClean="0"/>
          </a:p>
          <a:p>
            <a:r>
              <a:rPr lang="it-IT" sz="1400" dirty="0"/>
              <a:t>13 minuti per </a:t>
            </a:r>
            <a:r>
              <a:rPr lang="it-IT" sz="1400" dirty="0" smtClean="0"/>
              <a:t>analisi tweets</a:t>
            </a:r>
          </a:p>
          <a:p>
            <a:r>
              <a:rPr lang="it-IT" sz="1400" dirty="0" smtClean="0"/>
              <a:t>- Primary node:</a:t>
            </a:r>
            <a:r>
              <a:rPr lang="it-IT" sz="1400" dirty="0"/>
              <a:t/>
            </a:r>
            <a:br>
              <a:rPr lang="it-IT" sz="1400" dirty="0"/>
            </a:br>
            <a:r>
              <a:rPr lang="it-IT" sz="1400" dirty="0"/>
              <a:t>Cpu 33</a:t>
            </a:r>
            <a:r>
              <a:rPr lang="it-IT" sz="1400" dirty="0" smtClean="0"/>
              <a:t>%</a:t>
            </a:r>
            <a:endParaRPr lang="it-IT" sz="1400" dirty="0"/>
          </a:p>
          <a:p>
            <a:r>
              <a:rPr lang="it-IT" sz="1400" dirty="0" smtClean="0"/>
              <a:t>PWS 3,6 giga</a:t>
            </a:r>
            <a:r>
              <a:rPr lang="it-IT" sz="1400" dirty="0"/>
              <a:t/>
            </a:r>
            <a:br>
              <a:rPr lang="it-IT" sz="1400" dirty="0"/>
            </a:br>
            <a:r>
              <a:rPr lang="it-IT" sz="1400" dirty="0" smtClean="0"/>
              <a:t>- Secondary node:</a:t>
            </a:r>
          </a:p>
          <a:p>
            <a:r>
              <a:rPr lang="it-IT" sz="1400" dirty="0" smtClean="0"/>
              <a:t>Cpu 39%</a:t>
            </a:r>
          </a:p>
          <a:p>
            <a:r>
              <a:rPr lang="it-IT" sz="1400" dirty="0" smtClean="0"/>
              <a:t>PWS 5,7 giga</a:t>
            </a:r>
            <a:endParaRPr lang="it-IT" sz="1400" dirty="0"/>
          </a:p>
        </p:txBody>
      </p:sp>
      <p:sp>
        <p:nvSpPr>
          <p:cNvPr id="5" name="CasellaDiTesto 4"/>
          <p:cNvSpPr txBox="1"/>
          <p:nvPr/>
        </p:nvSpPr>
        <p:spPr>
          <a:xfrm>
            <a:off x="2324341" y="1187484"/>
            <a:ext cx="2634713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dirty="0" smtClean="0"/>
              <a:t>MARIA DB</a:t>
            </a:r>
            <a:r>
              <a:rPr lang="it-IT" sz="1400" dirty="0"/>
              <a:t/>
            </a:r>
            <a:br>
              <a:rPr lang="it-IT" sz="1400" dirty="0"/>
            </a:br>
            <a:endParaRPr lang="it-IT" sz="1400" dirty="0" smtClean="0"/>
          </a:p>
          <a:p>
            <a:r>
              <a:rPr lang="it-IT" sz="1400" dirty="0"/>
              <a:t>29 minuti per a</a:t>
            </a:r>
            <a:r>
              <a:rPr lang="it-IT" sz="1400" dirty="0" smtClean="0"/>
              <a:t>nalisi tweets</a:t>
            </a:r>
            <a:endParaRPr lang="it-IT" sz="1400" dirty="0"/>
          </a:p>
          <a:p>
            <a:r>
              <a:rPr lang="it-IT" sz="1400" dirty="0" smtClean="0"/>
              <a:t>Con </a:t>
            </a:r>
            <a:r>
              <a:rPr lang="it-IT" sz="1400" dirty="0" err="1" smtClean="0"/>
              <a:t>cpu</a:t>
            </a:r>
            <a:r>
              <a:rPr lang="it-IT" sz="1400" dirty="0" smtClean="0"/>
              <a:t> al </a:t>
            </a:r>
            <a:r>
              <a:rPr lang="it-IT" sz="1400" dirty="0"/>
              <a:t>32</a:t>
            </a:r>
            <a:r>
              <a:rPr lang="it-IT" sz="1400" dirty="0" smtClean="0"/>
              <a:t>%</a:t>
            </a:r>
            <a:r>
              <a:rPr lang="it-IT" sz="1400" dirty="0"/>
              <a:t/>
            </a:r>
            <a:br>
              <a:rPr lang="it-IT" sz="1400" dirty="0"/>
            </a:br>
            <a:r>
              <a:rPr lang="it-IT" sz="1400" dirty="0" smtClean="0"/>
              <a:t>PWS* </a:t>
            </a:r>
            <a:r>
              <a:rPr lang="it-IT" sz="1400" dirty="0"/>
              <a:t>4,2 giga</a:t>
            </a:r>
            <a:br>
              <a:rPr lang="it-IT" sz="1400" dirty="0"/>
            </a:br>
            <a:r>
              <a:rPr lang="it-IT" sz="1400" dirty="0"/>
              <a:t/>
            </a:r>
            <a:br>
              <a:rPr lang="it-IT" sz="1400" dirty="0"/>
            </a:br>
            <a:endParaRPr lang="it-IT" dirty="0"/>
          </a:p>
        </p:txBody>
      </p:sp>
      <p:sp>
        <p:nvSpPr>
          <p:cNvPr id="10" name="Titolo 1"/>
          <p:cNvSpPr>
            <a:spLocks noGrp="1"/>
          </p:cNvSpPr>
          <p:nvPr>
            <p:ph type="title"/>
          </p:nvPr>
        </p:nvSpPr>
        <p:spPr>
          <a:xfrm>
            <a:off x="531832" y="210807"/>
            <a:ext cx="8596668" cy="1287439"/>
          </a:xfrm>
        </p:spPr>
        <p:txBody>
          <a:bodyPr>
            <a:normAutofit/>
          </a:bodyPr>
          <a:lstStyle/>
          <a:p>
            <a:pPr algn="ctr"/>
            <a:r>
              <a:rPr lang="it-IT" b="1" dirty="0" smtClean="0"/>
              <a:t>COMPARAZIONE </a:t>
            </a:r>
            <a:r>
              <a:rPr lang="it-IT" b="1" dirty="0" smtClean="0"/>
              <a:t>PRESTAZIONI</a:t>
            </a:r>
            <a:endParaRPr lang="it-IT" sz="4800" dirty="0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sz="1000" dirty="0" smtClean="0"/>
              <a:t>*Primary working set, ossia l'insieme </a:t>
            </a:r>
            <a:r>
              <a:rPr lang="it-IT" sz="1000" dirty="0"/>
              <a:t>delle pagine di memoria utilizzate dai </a:t>
            </a:r>
            <a:r>
              <a:rPr lang="it-IT" sz="1000" dirty="0" smtClean="0"/>
              <a:t>processi in esecuzione</a:t>
            </a:r>
            <a:endParaRPr lang="it-IT" sz="1000" dirty="0"/>
          </a:p>
        </p:txBody>
      </p:sp>
    </p:spTree>
    <p:extLst>
      <p:ext uri="{BB962C8B-B14F-4D97-AF65-F5344CB8AC3E}">
        <p14:creationId xmlns:p14="http://schemas.microsoft.com/office/powerpoint/2010/main" val="28567648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faccettatura">
  <a:themeElements>
    <a:clrScheme name="Sfaccettatur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Sfaccettatur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faccettatur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707</TotalTime>
  <Words>436</Words>
  <Application>Microsoft Office PowerPoint</Application>
  <PresentationFormat>Personalizzato</PresentationFormat>
  <Paragraphs>160</Paragraphs>
  <Slides>29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29</vt:i4>
      </vt:variant>
    </vt:vector>
  </HeadingPairs>
  <TitlesOfParts>
    <vt:vector size="30" baseType="lpstr">
      <vt:lpstr>Sfaccettatura</vt:lpstr>
      <vt:lpstr>Presentazione standard di PowerPoint</vt:lpstr>
      <vt:lpstr>Presentazione standard di PowerPoint</vt:lpstr>
      <vt:lpstr>Schema dei dati</vt:lpstr>
      <vt:lpstr>Architettura degli shard in MongoDB</vt:lpstr>
      <vt:lpstr>Pipeline di elaborazione delle mappe in MongoDB</vt:lpstr>
      <vt:lpstr>Presentazione standard di PowerPoint</vt:lpstr>
      <vt:lpstr>Schema delle classi implementate</vt:lpstr>
      <vt:lpstr>PRINCIPALI LIBRERIE UTILIZZATE</vt:lpstr>
      <vt:lpstr>Word cloud dei tweet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STATISTICHE REALIZZATE</vt:lpstr>
      <vt:lpstr>Presentazione standard di PowerPoint</vt:lpstr>
      <vt:lpstr>USO DELLE RISORSE LESSICALI</vt:lpstr>
      <vt:lpstr>COMPARAZIONE PRESTAZIONI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Angelo</dc:creator>
  <cp:lastModifiedBy>Utente Windows</cp:lastModifiedBy>
  <cp:revision>75</cp:revision>
  <dcterms:created xsi:type="dcterms:W3CDTF">2020-05-07T15:09:40Z</dcterms:created>
  <dcterms:modified xsi:type="dcterms:W3CDTF">2020-05-17T10:34:57Z</dcterms:modified>
</cp:coreProperties>
</file>