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9" r:id="rId3"/>
    <p:sldId id="257" r:id="rId4"/>
    <p:sldId id="258" r:id="rId5"/>
    <p:sldId id="294" r:id="rId6"/>
    <p:sldId id="293" r:id="rId7"/>
    <p:sldId id="260" r:id="rId8"/>
    <p:sldId id="289" r:id="rId9"/>
    <p:sldId id="270" r:id="rId10"/>
    <p:sldId id="261" r:id="rId11"/>
    <p:sldId id="271" r:id="rId12"/>
    <p:sldId id="273" r:id="rId13"/>
    <p:sldId id="272" r:id="rId14"/>
    <p:sldId id="275" r:id="rId15"/>
    <p:sldId id="274" r:id="rId16"/>
    <p:sldId id="278" r:id="rId17"/>
    <p:sldId id="277" r:id="rId18"/>
    <p:sldId id="276" r:id="rId19"/>
    <p:sldId id="282" r:id="rId20"/>
    <p:sldId id="281" r:id="rId21"/>
    <p:sldId id="280" r:id="rId22"/>
    <p:sldId id="279" r:id="rId23"/>
    <p:sldId id="283" r:id="rId24"/>
    <p:sldId id="284" r:id="rId25"/>
    <p:sldId id="285" r:id="rId26"/>
    <p:sldId id="287" r:id="rId27"/>
    <p:sldId id="290" r:id="rId28"/>
    <p:sldId id="291" r:id="rId29"/>
    <p:sldId id="29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517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781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478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528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167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48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570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31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757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41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1615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8002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2474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9383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681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275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60570-40D4-4251-9C9D-483363F27B24}" type="datetimeFigureOut">
              <a:rPr lang="it-IT" smtClean="0"/>
              <a:t>17/05/2020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30991D-1417-4C50-8CA7-C547BD8E7E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842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requests/" TargetMode="External"/><Relationship Id="rId3" Type="http://schemas.openxmlformats.org/officeDocument/2006/relationships/hyperlink" Target="https://api.mongodb.com/python/current/tutorial.html" TargetMode="External"/><Relationship Id="rId7" Type="http://schemas.openxmlformats.org/officeDocument/2006/relationships/hyperlink" Target="https://docs.python.org/3/library/threading.html" TargetMode="External"/><Relationship Id="rId2" Type="http://schemas.openxmlformats.org/officeDocument/2006/relationships/hyperlink" Target="https://pypi.org/project/wordclou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arpedm20/emoji/" TargetMode="External"/><Relationship Id="rId5" Type="http://schemas.openxmlformats.org/officeDocument/2006/relationships/hyperlink" Target="https://www.nltk.org/install.html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github.com/mariadb-corporation/mariadb-connector-python/wiki/usage.md" TargetMode="External"/><Relationship Id="rId9" Type="http://schemas.openxmlformats.org/officeDocument/2006/relationships/hyperlink" Target="https://docs.python.org/3/library/re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353317" y="4909518"/>
            <a:ext cx="295723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it-IT" altLang="it-IT" sz="1600" b="1" dirty="0" smtClean="0">
                <a:solidFill>
                  <a:prstClr val="black"/>
                </a:solidFill>
                <a:latin typeface="Palatino Linotype"/>
                <a:cs typeface="Arial" charset="0"/>
              </a:rPr>
              <a:t>STUDENTI</a:t>
            </a:r>
            <a:r>
              <a:rPr lang="it-IT" altLang="it-IT" sz="1600" b="1" dirty="0">
                <a:solidFill>
                  <a:prstClr val="black"/>
                </a:solidFill>
                <a:latin typeface="Palatino Linotype"/>
                <a:cs typeface="Arial" charset="0"/>
              </a:rPr>
              <a:t/>
            </a:r>
            <a:br>
              <a:rPr lang="it-IT" altLang="it-IT" sz="1600" b="1" dirty="0">
                <a:solidFill>
                  <a:prstClr val="black"/>
                </a:solidFill>
                <a:latin typeface="Palatino Linotype"/>
                <a:cs typeface="Arial" charset="0"/>
              </a:rPr>
            </a:br>
            <a:r>
              <a:rPr lang="it-IT" altLang="it-IT" sz="1600" b="1" dirty="0" smtClean="0">
                <a:solidFill>
                  <a:prstClr val="black"/>
                </a:solidFill>
                <a:latin typeface="Palatino Linotype"/>
                <a:cs typeface="Arial" charset="0"/>
              </a:rPr>
              <a:t>928995 </a:t>
            </a:r>
            <a:r>
              <a:rPr lang="it-IT" altLang="it-IT" sz="1600" b="1" dirty="0" err="1" smtClean="0">
                <a:solidFill>
                  <a:prstClr val="black"/>
                </a:solidFill>
                <a:latin typeface="Palatino Linotype"/>
                <a:cs typeface="Arial" charset="0"/>
              </a:rPr>
              <a:t>Racanati</a:t>
            </a:r>
            <a:r>
              <a:rPr lang="it-IT" altLang="it-IT" sz="1600" b="1" dirty="0" smtClean="0">
                <a:solidFill>
                  <a:prstClr val="black"/>
                </a:solidFill>
                <a:latin typeface="Palatino Linotype"/>
                <a:cs typeface="Arial" charset="0"/>
              </a:rPr>
              <a:t> Amedeo </a:t>
            </a:r>
            <a:r>
              <a:rPr lang="it-IT" sz="1600" dirty="0"/>
              <a:t>928869 </a:t>
            </a:r>
            <a:r>
              <a:rPr lang="it-IT" altLang="it-IT" sz="1600" b="1" dirty="0" err="1" smtClean="0">
                <a:solidFill>
                  <a:prstClr val="black"/>
                </a:solidFill>
                <a:latin typeface="Palatino Linotype"/>
                <a:cs typeface="Arial" charset="0"/>
              </a:rPr>
              <a:t>Sansonetti</a:t>
            </a:r>
            <a:r>
              <a:rPr lang="it-IT" altLang="it-IT" sz="1600" b="1" dirty="0" smtClean="0">
                <a:solidFill>
                  <a:prstClr val="black"/>
                </a:solidFill>
                <a:latin typeface="Palatino Linotype"/>
                <a:cs typeface="Arial" charset="0"/>
              </a:rPr>
              <a:t> Angelo Pio</a:t>
            </a:r>
            <a:r>
              <a:rPr lang="it-IT" altLang="it-IT" sz="1600" dirty="0">
                <a:solidFill>
                  <a:prstClr val="black"/>
                </a:solidFill>
                <a:latin typeface="Palatino Linotype"/>
                <a:cs typeface="Arial" charset="0"/>
              </a:rPr>
              <a:t/>
            </a:r>
            <a:br>
              <a:rPr lang="it-IT" altLang="it-IT" sz="1600" dirty="0">
                <a:solidFill>
                  <a:prstClr val="black"/>
                </a:solidFill>
                <a:latin typeface="Palatino Linotype"/>
                <a:cs typeface="Arial" charset="0"/>
              </a:rPr>
            </a:br>
            <a:endParaRPr lang="it-IT" altLang="it-IT" sz="1600" dirty="0">
              <a:solidFill>
                <a:prstClr val="black"/>
              </a:solidFill>
              <a:latin typeface="Palatino Linotype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896197" y="6099741"/>
            <a:ext cx="38163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it-IT" altLang="it-IT" b="1" dirty="0">
                <a:solidFill>
                  <a:prstClr val="black"/>
                </a:solidFill>
                <a:latin typeface="Palatino Linotype"/>
                <a:cs typeface="Arial" charset="0"/>
              </a:rPr>
              <a:t>Anno Accademico </a:t>
            </a:r>
            <a:r>
              <a:rPr lang="it-IT" altLang="it-IT" b="1" dirty="0" smtClean="0">
                <a:solidFill>
                  <a:prstClr val="black"/>
                </a:solidFill>
                <a:latin typeface="Palatino Linotype"/>
                <a:cs typeface="Arial" charset="0"/>
              </a:rPr>
              <a:t>2019-20</a:t>
            </a:r>
            <a:endParaRPr lang="it-IT" altLang="it-IT" b="1" dirty="0">
              <a:solidFill>
                <a:prstClr val="black"/>
              </a:solidFill>
              <a:latin typeface="Palatino Linotype"/>
              <a:cs typeface="Arial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2173022" y="3429001"/>
            <a:ext cx="79928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5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Presentazione di progetto di Modelli e architetture avanzati di basi di dati</a:t>
            </a:r>
            <a:r>
              <a:rPr lang="it-IT" altLang="it-IT" sz="25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  <a:cs typeface="Times New Roman" panose="02020603050405020304" pitchFamily="18" charset="0"/>
              </a:rPr>
              <a:t> </a:t>
            </a:r>
            <a:r>
              <a:rPr lang="it-IT" altLang="it-IT" sz="2500" b="1" i="1" dirty="0">
                <a:solidFill>
                  <a:prstClr val="black"/>
                </a:solidFill>
                <a:latin typeface="Palatino Linotype"/>
                <a:cs typeface="Times New Roman" panose="02020603050405020304" pitchFamily="18" charset="0"/>
              </a:rPr>
              <a:t/>
            </a:r>
            <a:br>
              <a:rPr lang="it-IT" altLang="it-IT" sz="2500" b="1" i="1" dirty="0">
                <a:solidFill>
                  <a:prstClr val="black"/>
                </a:solidFill>
                <a:latin typeface="Palatino Linotype"/>
                <a:cs typeface="Times New Roman" panose="02020603050405020304" pitchFamily="18" charset="0"/>
              </a:rPr>
            </a:br>
            <a:endParaRPr lang="it-IT" sz="2000" dirty="0">
              <a:solidFill>
                <a:prstClr val="black"/>
              </a:solidFill>
              <a:latin typeface="Palatino Linotype"/>
              <a:cs typeface="Arial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2173022" y="1268760"/>
            <a:ext cx="79928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5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UNIVERSIT</a:t>
            </a:r>
            <a:r>
              <a:rPr lang="it-IT" sz="25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À DEGLI STUDI DI TORINO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5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DIPARTIMENTO DI INFORMATICA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25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500" b="1" i="1" dirty="0">
                <a:solidFill>
                  <a:srgbClr val="9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Corso di Laurea Magistrale in Informatica</a:t>
            </a:r>
            <a:r>
              <a:rPr lang="it-IT" altLang="it-IT" sz="2500" b="1" i="1" dirty="0">
                <a:solidFill>
                  <a:prstClr val="black"/>
                </a:solidFill>
                <a:latin typeface="Palatino Linotype"/>
                <a:cs typeface="Times New Roman" panose="02020603050405020304" pitchFamily="18" charset="0"/>
              </a:rPr>
              <a:t/>
            </a:r>
            <a:br>
              <a:rPr lang="it-IT" altLang="it-IT" sz="2500" b="1" i="1" dirty="0">
                <a:solidFill>
                  <a:prstClr val="black"/>
                </a:solidFill>
                <a:latin typeface="Palatino Linotype"/>
                <a:cs typeface="Times New Roman" panose="02020603050405020304" pitchFamily="18" charset="0"/>
              </a:rPr>
            </a:br>
            <a:endParaRPr lang="it-IT" sz="2000" i="1" dirty="0">
              <a:solidFill>
                <a:prstClr val="black"/>
              </a:solidFill>
              <a:latin typeface="Palatino Linotype"/>
              <a:cs typeface="Arial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974" y="182054"/>
            <a:ext cx="1067970" cy="10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9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" y="1165709"/>
            <a:ext cx="11615672" cy="39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1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27707" y="491613"/>
            <a:ext cx="8596668" cy="1320800"/>
          </a:xfrm>
        </p:spPr>
        <p:txBody>
          <a:bodyPr/>
          <a:lstStyle/>
          <a:p>
            <a:pPr algn="ctr"/>
            <a:r>
              <a:rPr lang="it-IT" dirty="0" smtClean="0"/>
              <a:t>Schema dei dati</a:t>
            </a:r>
            <a:endParaRPr lang="it-IT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116" y="1270000"/>
            <a:ext cx="7879851" cy="489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0" y="2762146"/>
            <a:ext cx="3932809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 smtClean="0"/>
              <a:t>Architettura</a:t>
            </a:r>
            <a:br>
              <a:rPr lang="it-IT" dirty="0" smtClean="0"/>
            </a:br>
            <a:r>
              <a:rPr lang="it-IT" dirty="0" smtClean="0"/>
              <a:t>degli </a:t>
            </a:r>
            <a:r>
              <a:rPr lang="it-IT" dirty="0" err="1" smtClean="0"/>
              <a:t>shard</a:t>
            </a:r>
            <a:r>
              <a:rPr lang="it-IT" dirty="0" smtClean="0"/>
              <a:t> in </a:t>
            </a:r>
            <a:r>
              <a:rPr lang="it-IT" dirty="0" err="1" smtClean="0"/>
              <a:t>MongoDB</a:t>
            </a:r>
            <a:endParaRPr lang="it-IT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981" y="392743"/>
            <a:ext cx="8283837" cy="605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2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>
            <a:spLocks noGrp="1"/>
          </p:cNvSpPr>
          <p:nvPr>
            <p:ph type="title"/>
          </p:nvPr>
        </p:nvSpPr>
        <p:spPr>
          <a:xfrm>
            <a:off x="548380" y="10550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it-IT" dirty="0" smtClean="0"/>
              <a:t>Pipeline di elaborazione delle mappe in </a:t>
            </a:r>
            <a:r>
              <a:rPr lang="it-IT" dirty="0" err="1" smtClean="0"/>
              <a:t>MongoDB</a:t>
            </a:r>
            <a:endParaRPr lang="it-IT" dirty="0"/>
          </a:p>
        </p:txBody>
      </p:sp>
      <p:pic>
        <p:nvPicPr>
          <p:cNvPr id="1026" name="Picture 2" descr="D:\Download\Untitled 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1" y="1567229"/>
            <a:ext cx="8296275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066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="" xmlns:a16="http://schemas.microsoft.com/office/drawing/2014/main" id="{7B0C3D97-6237-4821-A89A-70162D11EE4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it-IT" sz="2500" b="1" dirty="0" smtClean="0">
                <a:solidFill>
                  <a:prstClr val="black"/>
                </a:solidFill>
                <a:latin typeface="+mn-lt"/>
                <a:ea typeface="+mn-ea"/>
                <a:cs typeface="Times New Roman" panose="02020603050405020304" pitchFamily="18" charset="0"/>
              </a:rPr>
              <a:t>Elenco mappe generate</a:t>
            </a:r>
            <a:endParaRPr lang="it-IT" sz="2500" b="1" dirty="0">
              <a:solidFill>
                <a:prstClr val="black"/>
              </a:solidFill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="" xmlns:a16="http://schemas.microsoft.com/office/drawing/2014/main" id="{058AAC17-44C7-46C9-846C-ACC9953C05A1}"/>
              </a:ext>
            </a:extLst>
          </p:cNvPr>
          <p:cNvSpPr txBox="1">
            <a:spLocks/>
          </p:cNvSpPr>
          <p:nvPr/>
        </p:nvSpPr>
        <p:spPr>
          <a:xfrm>
            <a:off x="4917831" y="1231741"/>
            <a:ext cx="40386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it-IT" sz="2900" b="1" i="1" dirty="0" err="1" smtClean="0">
                <a:solidFill>
                  <a:prstClr val="black"/>
                </a:solidFill>
                <a:cs typeface="Times New Roman" panose="02020603050405020304" pitchFamily="18" charset="0"/>
              </a:rPr>
              <a:t>Hashtag</a:t>
            </a:r>
            <a:r>
              <a:rPr lang="it-IT" sz="2900" b="1" i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it-IT" sz="2900" b="1" i="1" dirty="0" err="1" smtClean="0">
                <a:solidFill>
                  <a:prstClr val="black"/>
                </a:solidFill>
                <a:cs typeface="Times New Roman" panose="02020603050405020304" pitchFamily="18" charset="0"/>
              </a:rPr>
              <a:t>Map</a:t>
            </a:r>
            <a:r>
              <a:rPr lang="it-IT" sz="2900" b="1" i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Wingdings 3" charset="2"/>
              <a:buNone/>
            </a:pPr>
            <a:r>
              <a:rPr lang="it-IT" sz="19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it-IT" sz="19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per ciascun sentimento viene creata una mappa, che a sua volta contiene tante mappe per ciascun </a:t>
            </a:r>
            <a:r>
              <a:rPr lang="it-IT" sz="1900" dirty="0" err="1" smtClean="0">
                <a:solidFill>
                  <a:prstClr val="black"/>
                </a:solidFill>
                <a:cs typeface="Times New Roman" panose="02020603050405020304" pitchFamily="18" charset="0"/>
              </a:rPr>
              <a:t>hashtag</a:t>
            </a: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con </a:t>
            </a: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le relative </a:t>
            </a: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frequenze</a:t>
            </a:r>
            <a:endParaRPr lang="it-IT" sz="1900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Segnaposto contenuto 3">
            <a:extLst>
              <a:ext uri="{FF2B5EF4-FFF2-40B4-BE49-F238E27FC236}">
                <a16:creationId xmlns="" xmlns:a16="http://schemas.microsoft.com/office/drawing/2014/main" id="{68B22042-CC38-489D-A7E5-BCC033D653FC}"/>
              </a:ext>
            </a:extLst>
          </p:cNvPr>
          <p:cNvSpPr txBox="1">
            <a:spLocks/>
          </p:cNvSpPr>
          <p:nvPr/>
        </p:nvSpPr>
        <p:spPr>
          <a:xfrm>
            <a:off x="457200" y="3645882"/>
            <a:ext cx="4038600" cy="211683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it-IT" sz="2900" b="1" i="1" dirty="0" err="1" smtClean="0">
                <a:solidFill>
                  <a:prstClr val="black"/>
                </a:solidFill>
                <a:cs typeface="Times New Roman" panose="02020603050405020304" pitchFamily="18" charset="0"/>
              </a:rPr>
              <a:t>Emoji</a:t>
            </a:r>
            <a:r>
              <a:rPr lang="it-IT" sz="2900" b="1" i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it-IT" sz="2900" b="1" i="1" dirty="0" err="1" smtClean="0">
                <a:solidFill>
                  <a:prstClr val="black"/>
                </a:solidFill>
                <a:cs typeface="Times New Roman" panose="02020603050405020304" pitchFamily="18" charset="0"/>
              </a:rPr>
              <a:t>Map</a:t>
            </a:r>
            <a:r>
              <a:rPr lang="it-IT" sz="2900" b="1" i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it-IT" sz="19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it-IT" sz="19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it-IT" sz="1900" dirty="0">
                <a:solidFill>
                  <a:prstClr val="black"/>
                </a:solidFill>
                <a:cs typeface="Times New Roman" panose="02020603050405020304" pitchFamily="18" charset="0"/>
              </a:rPr>
              <a:t>per </a:t>
            </a: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ciascun sentimento viene </a:t>
            </a:r>
            <a:r>
              <a:rPr lang="it-IT" sz="1900" dirty="0">
                <a:solidFill>
                  <a:prstClr val="black"/>
                </a:solidFill>
                <a:cs typeface="Times New Roman" panose="02020603050405020304" pitchFamily="18" charset="0"/>
              </a:rPr>
              <a:t>creata una mappa, che a sua volta contiene tante mappe per </a:t>
            </a: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ciascuna </a:t>
            </a:r>
            <a:r>
              <a:rPr lang="it-IT" sz="1900" dirty="0" err="1">
                <a:solidFill>
                  <a:prstClr val="black"/>
                </a:solidFill>
                <a:cs typeface="Times New Roman" panose="02020603050405020304" pitchFamily="18" charset="0"/>
              </a:rPr>
              <a:t>emoji</a:t>
            </a:r>
            <a:r>
              <a:rPr lang="it-IT" sz="1900" dirty="0">
                <a:solidFill>
                  <a:prstClr val="black"/>
                </a:solidFill>
                <a:cs typeface="Times New Roman" panose="02020603050405020304" pitchFamily="18" charset="0"/>
              </a:rPr>
              <a:t> o emoticon</a:t>
            </a: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con le </a:t>
            </a:r>
            <a:r>
              <a:rPr lang="it-IT" sz="1900" dirty="0">
                <a:solidFill>
                  <a:prstClr val="black"/>
                </a:solidFill>
                <a:cs typeface="Times New Roman" panose="02020603050405020304" pitchFamily="18" charset="0"/>
              </a:rPr>
              <a:t>relative frequenze</a:t>
            </a:r>
          </a:p>
          <a:p>
            <a:pPr marL="0" indent="0">
              <a:buFont typeface="Wingdings 3" charset="2"/>
              <a:buNone/>
            </a:pPr>
            <a:endParaRPr lang="it-IT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="" xmlns:a16="http://schemas.microsoft.com/office/drawing/2014/main" id="{058AAC17-44C7-46C9-846C-ACC9953C0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31741"/>
            <a:ext cx="4038600" cy="1828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sz="2900" b="1" i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Word </a:t>
            </a:r>
            <a:r>
              <a:rPr lang="it-IT" sz="2900" b="1" i="1" dirty="0" err="1" smtClean="0">
                <a:solidFill>
                  <a:prstClr val="black"/>
                </a:solidFill>
                <a:cs typeface="Times New Roman" panose="02020603050405020304" pitchFamily="18" charset="0"/>
              </a:rPr>
              <a:t>Map</a:t>
            </a:r>
            <a:r>
              <a:rPr lang="it-IT" sz="29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it-IT" sz="19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it-IT" sz="19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it-IT" sz="19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per ciascuna parola relativa ad un sentimento viene generata una mappa relativa alla frequenza nei </a:t>
            </a:r>
            <a:r>
              <a:rPr lang="it-IT" sz="1900" dirty="0" err="1" smtClean="0">
                <a:solidFill>
                  <a:prstClr val="black"/>
                </a:solidFill>
                <a:cs typeface="Times New Roman" panose="02020603050405020304" pitchFamily="18" charset="0"/>
              </a:rPr>
              <a:t>tweet</a:t>
            </a:r>
            <a:endParaRPr lang="it-IT" sz="1900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762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851"/>
            <a:ext cx="12333646" cy="6440166"/>
          </a:xfrm>
          <a:prstGeom prst="rect">
            <a:avLst/>
          </a:prstGeom>
        </p:spPr>
      </p:pic>
      <p:sp>
        <p:nvSpPr>
          <p:cNvPr id="4" name="Titolo 1"/>
          <p:cNvSpPr>
            <a:spLocks noGrp="1"/>
          </p:cNvSpPr>
          <p:nvPr>
            <p:ph type="title"/>
          </p:nvPr>
        </p:nvSpPr>
        <p:spPr>
          <a:xfrm>
            <a:off x="1606062" y="0"/>
            <a:ext cx="8299938" cy="1320800"/>
          </a:xfrm>
        </p:spPr>
        <p:txBody>
          <a:bodyPr>
            <a:normAutofit/>
          </a:bodyPr>
          <a:lstStyle/>
          <a:p>
            <a:pPr algn="ctr"/>
            <a:r>
              <a:rPr lang="it-IT" dirty="0" smtClean="0"/>
              <a:t>Schema delle </a:t>
            </a:r>
            <a:r>
              <a:rPr lang="it-IT" dirty="0" smtClean="0"/>
              <a:t>classi implementate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417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9773" y="161335"/>
            <a:ext cx="6681408" cy="783771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PRINCIPALI LIBRERIE UTILIZZATE</a:t>
            </a:r>
            <a:endParaRPr lang="it-IT" dirty="0"/>
          </a:p>
        </p:txBody>
      </p:sp>
      <p:graphicFrame>
        <p:nvGraphicFramePr>
          <p:cNvPr id="4" name="Tabel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24861"/>
              </p:ext>
            </p:extLst>
          </p:nvPr>
        </p:nvGraphicFramePr>
        <p:xfrm>
          <a:off x="1393373" y="986971"/>
          <a:ext cx="9327846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361">
                  <a:extLst>
                    <a:ext uri="{9D8B030D-6E8A-4147-A177-3AD203B41FA5}">
                      <a16:colId xmlns="" xmlns:a16="http://schemas.microsoft.com/office/drawing/2014/main" val="2877867300"/>
                    </a:ext>
                  </a:extLst>
                </a:gridCol>
                <a:gridCol w="2946400">
                  <a:extLst>
                    <a:ext uri="{9D8B030D-6E8A-4147-A177-3AD203B41FA5}">
                      <a16:colId xmlns="" xmlns:a16="http://schemas.microsoft.com/office/drawing/2014/main" val="674584734"/>
                    </a:ext>
                  </a:extLst>
                </a:gridCol>
                <a:gridCol w="4151085">
                  <a:extLst>
                    <a:ext uri="{9D8B030D-6E8A-4147-A177-3AD203B41FA5}">
                      <a16:colId xmlns="" xmlns:a16="http://schemas.microsoft.com/office/drawing/2014/main" val="2074233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Nome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Scopo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Riferimento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06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wordcloud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Generatore</a:t>
                      </a:r>
                      <a:r>
                        <a:rPr lang="it-IT" baseline="0" dirty="0" smtClean="0"/>
                        <a:t> di word cloud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solidFill>
                            <a:schemeClr val="tx1"/>
                          </a:solidFill>
                          <a:hlinkClick r:id="rId2"/>
                        </a:rPr>
                        <a:t>https://pypi.org/project/wordcloud/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52449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pymongo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Utilizzo di MongoDB</a:t>
                      </a:r>
                      <a:r>
                        <a:rPr lang="it-IT" baseline="0" dirty="0" smtClean="0"/>
                        <a:t> in ambiente Python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solidFill>
                            <a:schemeClr val="tx1"/>
                          </a:solidFill>
                          <a:hlinkClick r:id="rId3"/>
                        </a:rPr>
                        <a:t>https://api.mongodb.com/python/current/tutorial.html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6042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mariadb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Utilizzo di MariaDB</a:t>
                      </a:r>
                      <a:r>
                        <a:rPr lang="it-IT" baseline="0" dirty="0" smtClean="0"/>
                        <a:t> in ambiente Python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solidFill>
                            <a:schemeClr val="tx1"/>
                          </a:solidFill>
                          <a:hlinkClick r:id="rId4"/>
                        </a:rPr>
                        <a:t>https://github.com/mariadb-corporation/mariadb-connector-python/wiki/usage.md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86662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nltk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Tokenizzazione,</a:t>
                      </a:r>
                      <a:r>
                        <a:rPr lang="it-IT" baseline="0" dirty="0" smtClean="0"/>
                        <a:t> Pos tagging, Lemmatizzazione,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hlinkClick r:id="rId5"/>
                        </a:rPr>
                        <a:t>https://www.nltk.org/install.html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2378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emoji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Gestione degli</a:t>
                      </a:r>
                      <a:r>
                        <a:rPr lang="it-IT" baseline="0" dirty="0" smtClean="0"/>
                        <a:t> emoji durante il processing dei tweet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hlinkClick r:id="rId6"/>
                        </a:rPr>
                        <a:t>https://github.com/carpedm20/emoji/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3680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threading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Gestione elaborazione</a:t>
                      </a:r>
                      <a:r>
                        <a:rPr lang="it-IT" baseline="0" dirty="0" smtClean="0"/>
                        <a:t> </a:t>
                      </a:r>
                      <a:r>
                        <a:rPr lang="it-IT" baseline="0" dirty="0" smtClean="0"/>
                        <a:t>concorrente degli </a:t>
                      </a:r>
                      <a:r>
                        <a:rPr lang="it-IT" baseline="0" dirty="0" smtClean="0"/>
                        <a:t>shard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hlinkClick r:id="rId7"/>
                        </a:rPr>
                        <a:t>https://docs.python.org/3/library/threading.html</a:t>
                      </a:r>
                      <a:endParaRPr lang="it-IT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60836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requests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Gestione richieste http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hlinkClick r:id="rId8"/>
                        </a:rPr>
                        <a:t>https://pypi.org/project/requests/</a:t>
                      </a:r>
                      <a:endParaRPr lang="it-IT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805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re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Utilizzo di espressioni regolari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hlinkClick r:id="rId9"/>
                        </a:rPr>
                        <a:t>https://docs.python.org/3/library/re.html</a:t>
                      </a:r>
                      <a:endParaRPr lang="it-IT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63736797"/>
                  </a:ext>
                </a:extLst>
              </a:tr>
            </a:tbl>
          </a:graphicData>
        </a:graphic>
      </p:graphicFrame>
      <p:pic>
        <p:nvPicPr>
          <p:cNvPr id="6" name="Immagine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781" y="92928"/>
            <a:ext cx="2310190" cy="81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0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/>
              <a:t>Word cloud dei tweet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985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592"/>
            <a:ext cx="7152209" cy="5343050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Anger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9" y="2060812"/>
            <a:ext cx="34119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Hate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Fuck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Shit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#fuckyou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#annoying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Bitch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Mad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35768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Anticipation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9" y="2060812"/>
            <a:ext cx="34119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#Excited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#cantwait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Tomorrow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Tonight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#soexcited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#waiting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592"/>
            <a:ext cx="7152209" cy="53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6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Disgust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9" y="2060812"/>
            <a:ext cx="34119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Fuck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Shit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Hate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#bored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Nigga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592"/>
            <a:ext cx="7289226" cy="54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4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Fear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8" y="2060812"/>
            <a:ext cx="35757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Happy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#awkaward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#scared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#decisions</a:t>
            </a: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#awk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#thatawkwardmoment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592"/>
            <a:ext cx="7289226" cy="54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Joy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9" y="2060812"/>
            <a:ext cx="34119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Laugh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Good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Happy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Birthday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G</a:t>
            </a:r>
            <a:r>
              <a:rPr lang="it-IT" sz="2400" dirty="0" smtClean="0"/>
              <a:t>reat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Nice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F</a:t>
            </a:r>
            <a:r>
              <a:rPr lang="it-IT" sz="2400" dirty="0" smtClean="0"/>
              <a:t>unny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5" y="1412592"/>
            <a:ext cx="7264235" cy="54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Sadness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9" y="2060812"/>
            <a:ext cx="34119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Laugh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Feel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Cry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Hate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Leave</a:t>
            </a: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Sad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</a:t>
            </a:r>
            <a:r>
              <a:rPr lang="it-IT" sz="2400" dirty="0" err="1" smtClean="0"/>
              <a:t>sadtweet</a:t>
            </a:r>
            <a:endParaRPr lang="it-IT" sz="2400" dirty="0" smtClean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592"/>
            <a:ext cx="7289226" cy="54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Surprise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9" y="2060812"/>
            <a:ext cx="34119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#wtf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#weird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#wow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#omg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#random</a:t>
            </a: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</a:t>
            </a:r>
            <a:r>
              <a:rPr lang="it-IT" sz="2400" dirty="0" err="1" smtClean="0"/>
              <a:t>crazy</a:t>
            </a:r>
            <a:endParaRPr lang="it-IT" sz="2400" dirty="0" smtClean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8883"/>
            <a:ext cx="7361120" cy="549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7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Trust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7861111" y="1412592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FF0000"/>
                </a:solidFill>
              </a:rPr>
              <a:t>Termini più frequenti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297839" y="2060812"/>
            <a:ext cx="34119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Happy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Birthday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Hope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Sweet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#love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smtClean="0"/>
              <a:t>Mom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 smtClean="0"/>
              <a:t>Forever</a:t>
            </a:r>
            <a:endParaRPr lang="it-IT" sz="2400" dirty="0" smtClean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592"/>
            <a:ext cx="7287904" cy="544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7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Anger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309" y="1155342"/>
            <a:ext cx="7313875" cy="546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Anticipation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854" y="1155342"/>
            <a:ext cx="7526785" cy="562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4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Disgust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135" y="1155342"/>
            <a:ext cx="7414224" cy="553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1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Fear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001" y="1155342"/>
            <a:ext cx="7432492" cy="555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6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Anticipation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099" y="1155342"/>
            <a:ext cx="7485459" cy="559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4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Sadness</a:t>
            </a:r>
            <a:endParaRPr lang="it-IT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515" y="1155342"/>
            <a:ext cx="7761463" cy="579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2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Surprise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456" y="1155342"/>
            <a:ext cx="7633581" cy="570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0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875964" y="232012"/>
            <a:ext cx="416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smtClean="0">
                <a:solidFill>
                  <a:srgbClr val="5FCBEF"/>
                </a:solidFill>
                <a:ea typeface="+mj-ea"/>
                <a:cs typeface="+mj-cs"/>
              </a:rPr>
              <a:t>Trust</a:t>
            </a:r>
            <a:endParaRPr lang="it-IT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637" y="1155342"/>
            <a:ext cx="7405219" cy="553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2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69658" y="3343703"/>
            <a:ext cx="5245793" cy="61054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STATISTICHE REALIZZATE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305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/>
          <p:cNvSpPr/>
          <p:nvPr/>
        </p:nvSpPr>
        <p:spPr>
          <a:xfrm>
            <a:off x="564108" y="269741"/>
            <a:ext cx="9262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4000" dirty="0" smtClean="0">
                <a:solidFill>
                  <a:srgbClr val="5FCBEF"/>
                </a:solidFill>
                <a:ea typeface="+mj-ea"/>
                <a:cs typeface="+mj-cs"/>
              </a:rPr>
              <a:t>FREQUENZA </a:t>
            </a:r>
            <a:r>
              <a:rPr lang="it-IT" sz="4000" dirty="0" smtClean="0">
                <a:solidFill>
                  <a:srgbClr val="5FCBEF"/>
                </a:solidFill>
                <a:ea typeface="+mj-ea"/>
                <a:cs typeface="+mj-cs"/>
              </a:rPr>
              <a:t>DEI TERMINI CONTEGGIATI </a:t>
            </a:r>
            <a:endParaRPr lang="it-IT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59" y="1123322"/>
            <a:ext cx="8952932" cy="4548796"/>
          </a:xfrm>
          <a:prstGeom prst="rect">
            <a:avLst/>
          </a:prstGeom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6115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673621" y="145576"/>
            <a:ext cx="8596668" cy="1287439"/>
          </a:xfrm>
        </p:spPr>
        <p:txBody>
          <a:bodyPr>
            <a:normAutofit/>
          </a:bodyPr>
          <a:lstStyle/>
          <a:p>
            <a:pPr algn="ctr"/>
            <a:r>
              <a:rPr lang="it-IT" b="1" dirty="0" smtClean="0"/>
              <a:t>USO DELLE RISORSE LESSICALI</a:t>
            </a:r>
            <a:endParaRPr lang="it-IT" sz="4800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" r="161"/>
          <a:stretch/>
        </p:blipFill>
        <p:spPr>
          <a:xfrm>
            <a:off x="1345364" y="1156363"/>
            <a:ext cx="9253181" cy="2552700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1154624" y="4215539"/>
            <a:ext cx="10066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Analizzando grafico precedente, si è deciso di scartare le parole che hanno avuto una occorrenza inferiore a 10.</a:t>
            </a:r>
          </a:p>
          <a:p>
            <a:r>
              <a:rPr lang="it-IT" dirty="0" smtClean="0"/>
              <a:t>Il primo gruppo di colonne indica </a:t>
            </a:r>
            <a:r>
              <a:rPr lang="it-IT" dirty="0" smtClean="0"/>
              <a:t>quante delle parole conteggiate nei </a:t>
            </a:r>
            <a:r>
              <a:rPr lang="it-IT" dirty="0" err="1" smtClean="0"/>
              <a:t>tweet</a:t>
            </a:r>
            <a:r>
              <a:rPr lang="it-IT" dirty="0" smtClean="0"/>
              <a:t> sono presenti anche nelle risorse. </a:t>
            </a:r>
            <a:r>
              <a:rPr lang="it-IT" dirty="0" smtClean="0"/>
              <a:t>Il secondo gruppo </a:t>
            </a:r>
            <a:r>
              <a:rPr lang="it-IT" dirty="0" smtClean="0"/>
              <a:t>indica quante parole delle risorse sono state trovate anche nei nostri conteggi.</a:t>
            </a:r>
            <a:endParaRPr lang="it-IT" dirty="0" smtClean="0"/>
          </a:p>
          <a:p>
            <a:r>
              <a:rPr lang="it-IT" dirty="0" smtClean="0"/>
              <a:t>L’ultima colonna indica le nuove parole trovate non appartenenti a </a:t>
            </a:r>
            <a:r>
              <a:rPr lang="it-IT" dirty="0" smtClean="0"/>
              <a:t>nessuna </a:t>
            </a:r>
            <a:r>
              <a:rPr lang="it-IT" dirty="0" smtClean="0"/>
              <a:t>risorsa.</a:t>
            </a:r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sdsadasd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095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60720" y="3334487"/>
            <a:ext cx="8596668" cy="3880773"/>
          </a:xfrm>
        </p:spPr>
        <p:txBody>
          <a:bodyPr/>
          <a:lstStyle/>
          <a:p>
            <a:r>
              <a:rPr lang="it-IT" dirty="0"/>
              <a:t>La creazione di un cluster ha permesso di ridurre i tempi di </a:t>
            </a:r>
            <a:r>
              <a:rPr lang="it-IT" dirty="0" smtClean="0"/>
              <a:t>analisi </a:t>
            </a:r>
            <a:r>
              <a:rPr lang="it-IT" dirty="0"/>
              <a:t>dei </a:t>
            </a:r>
            <a:r>
              <a:rPr lang="it-IT" dirty="0" err="1"/>
              <a:t>tweet</a:t>
            </a:r>
            <a:r>
              <a:rPr lang="it-IT" dirty="0"/>
              <a:t> di oltre il 50</a:t>
            </a:r>
            <a:r>
              <a:rPr lang="it-IT" dirty="0" smtClean="0"/>
              <a:t>%, a </a:t>
            </a:r>
            <a:r>
              <a:rPr lang="it-IT" dirty="0"/>
              <a:t>fronte però di un maggior utilizzo di risorse dovuto all'aggiunta di un </a:t>
            </a:r>
            <a:r>
              <a:rPr lang="it-IT" dirty="0" smtClean="0"/>
              <a:t>secondo nodo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Le operazioni di I/O si aggirano in entrambi i casi su 3 MB al secondo con fasi oscillatorie.</a:t>
            </a:r>
            <a:br>
              <a:rPr lang="it-IT" dirty="0"/>
            </a:br>
            <a:r>
              <a:rPr lang="it-IT" dirty="0"/>
              <a:t/>
            </a:r>
            <a:br>
              <a:rPr lang="it-IT" dirty="0"/>
            </a:br>
            <a:r>
              <a:rPr lang="it-IT" dirty="0" smtClean="0"/>
              <a:t>Inoltre </a:t>
            </a:r>
            <a:r>
              <a:rPr lang="it-IT" dirty="0"/>
              <a:t>la fase di inizializzazione per il </a:t>
            </a:r>
            <a:r>
              <a:rPr lang="it-IT" dirty="0" smtClean="0"/>
              <a:t>cluster </a:t>
            </a:r>
            <a:r>
              <a:rPr lang="it-IT" dirty="0" smtClean="0"/>
              <a:t>in</a:t>
            </a:r>
            <a:r>
              <a:rPr lang="it-IT" dirty="0" smtClean="0"/>
              <a:t> </a:t>
            </a:r>
            <a:r>
              <a:rPr lang="it-IT" dirty="0" err="1" smtClean="0"/>
              <a:t>MongoDB</a:t>
            </a:r>
            <a:r>
              <a:rPr lang="it-IT" dirty="0" smtClean="0"/>
              <a:t> </a:t>
            </a:r>
            <a:r>
              <a:rPr lang="it-IT" dirty="0"/>
              <a:t>è risultata 4 volte più </a:t>
            </a:r>
            <a:r>
              <a:rPr lang="it-IT" dirty="0" smtClean="0"/>
              <a:t>lenta, </a:t>
            </a:r>
            <a:r>
              <a:rPr lang="it-IT" dirty="0"/>
              <a:t>a causa </a:t>
            </a:r>
            <a:r>
              <a:rPr lang="it-IT" dirty="0" smtClean="0"/>
              <a:t>della </a:t>
            </a:r>
            <a:r>
              <a:rPr lang="it-IT" dirty="0"/>
              <a:t>necessità di dover suddividere i dati nei 3 </a:t>
            </a:r>
            <a:r>
              <a:rPr lang="it-IT" dirty="0" err="1"/>
              <a:t>shard</a:t>
            </a:r>
            <a:r>
              <a:rPr lang="it-IT" dirty="0"/>
              <a:t>.</a:t>
            </a:r>
          </a:p>
        </p:txBody>
      </p:sp>
      <p:pic>
        <p:nvPicPr>
          <p:cNvPr id="1027" name="Picture 3" descr="C:\Users\Amedeo\Desktop\imag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168" y="1124158"/>
            <a:ext cx="1306562" cy="151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medeo\Desktop\downloa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16" y="1256984"/>
            <a:ext cx="214312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6857999" y="1124158"/>
            <a:ext cx="25439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MONGO DB</a:t>
            </a:r>
          </a:p>
          <a:p>
            <a:endParaRPr lang="it-IT" sz="1400" dirty="0" smtClean="0"/>
          </a:p>
          <a:p>
            <a:r>
              <a:rPr lang="it-IT" sz="1400" dirty="0"/>
              <a:t>13 minuti per </a:t>
            </a:r>
            <a:r>
              <a:rPr lang="it-IT" sz="1400" dirty="0" smtClean="0"/>
              <a:t>analisi </a:t>
            </a:r>
            <a:r>
              <a:rPr lang="it-IT" sz="1400" dirty="0" err="1" smtClean="0"/>
              <a:t>tweets</a:t>
            </a:r>
            <a:endParaRPr lang="it-IT" sz="1400" dirty="0" smtClean="0"/>
          </a:p>
          <a:p>
            <a:r>
              <a:rPr lang="it-IT" sz="1400" dirty="0" smtClean="0"/>
              <a:t>- </a:t>
            </a:r>
            <a:r>
              <a:rPr lang="it-IT" sz="1400" dirty="0" err="1" smtClean="0"/>
              <a:t>Primary</a:t>
            </a:r>
            <a:r>
              <a:rPr lang="it-IT" sz="1400" dirty="0" smtClean="0"/>
              <a:t> </a:t>
            </a:r>
            <a:r>
              <a:rPr lang="it-IT" sz="1400" dirty="0" err="1" smtClean="0"/>
              <a:t>node</a:t>
            </a:r>
            <a:r>
              <a:rPr lang="it-IT" sz="1400" dirty="0" smtClean="0"/>
              <a:t>:</a:t>
            </a:r>
            <a:r>
              <a:rPr lang="it-IT" sz="1400" dirty="0"/>
              <a:t/>
            </a:r>
            <a:br>
              <a:rPr lang="it-IT" sz="1400" dirty="0"/>
            </a:br>
            <a:r>
              <a:rPr lang="it-IT" sz="1400" dirty="0" err="1"/>
              <a:t>Cpu</a:t>
            </a:r>
            <a:r>
              <a:rPr lang="it-IT" sz="1400" dirty="0"/>
              <a:t> 33</a:t>
            </a:r>
            <a:r>
              <a:rPr lang="it-IT" sz="1400" dirty="0" smtClean="0"/>
              <a:t>%</a:t>
            </a:r>
            <a:endParaRPr lang="it-IT" sz="1400" dirty="0"/>
          </a:p>
          <a:p>
            <a:r>
              <a:rPr lang="it-IT" sz="1400" dirty="0" smtClean="0"/>
              <a:t>PWS 3,6 giga</a:t>
            </a:r>
            <a:r>
              <a:rPr lang="it-IT" sz="1400" dirty="0"/>
              <a:t/>
            </a:r>
            <a:br>
              <a:rPr lang="it-IT" sz="1400" dirty="0"/>
            </a:br>
            <a:r>
              <a:rPr lang="it-IT" sz="1400" dirty="0" smtClean="0"/>
              <a:t>- </a:t>
            </a:r>
            <a:r>
              <a:rPr lang="it-IT" sz="1400" dirty="0" err="1" smtClean="0"/>
              <a:t>Secondary</a:t>
            </a:r>
            <a:r>
              <a:rPr lang="it-IT" sz="1400" dirty="0" smtClean="0"/>
              <a:t> </a:t>
            </a:r>
            <a:r>
              <a:rPr lang="it-IT" sz="1400" dirty="0" err="1" smtClean="0"/>
              <a:t>node</a:t>
            </a:r>
            <a:r>
              <a:rPr lang="it-IT" sz="1400" dirty="0" smtClean="0"/>
              <a:t>:</a:t>
            </a:r>
          </a:p>
          <a:p>
            <a:r>
              <a:rPr lang="it-IT" sz="1400" dirty="0" err="1" smtClean="0"/>
              <a:t>Cpu</a:t>
            </a:r>
            <a:r>
              <a:rPr lang="it-IT" sz="1400" dirty="0" smtClean="0"/>
              <a:t> 39%</a:t>
            </a:r>
          </a:p>
          <a:p>
            <a:r>
              <a:rPr lang="it-IT" sz="1400" dirty="0" smtClean="0"/>
              <a:t>PWS 5,7 giga</a:t>
            </a:r>
            <a:endParaRPr lang="it-IT" sz="1400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2324341" y="1187484"/>
            <a:ext cx="26347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MARIA DB</a:t>
            </a:r>
            <a:r>
              <a:rPr lang="it-IT" sz="1400" dirty="0"/>
              <a:t/>
            </a:r>
            <a:br>
              <a:rPr lang="it-IT" sz="1400" dirty="0"/>
            </a:br>
            <a:endParaRPr lang="it-IT" sz="1400" dirty="0" smtClean="0"/>
          </a:p>
          <a:p>
            <a:r>
              <a:rPr lang="it-IT" sz="1400" dirty="0"/>
              <a:t>29 minuti per a</a:t>
            </a:r>
            <a:r>
              <a:rPr lang="it-IT" sz="1400" dirty="0" smtClean="0"/>
              <a:t>nalisi </a:t>
            </a:r>
            <a:r>
              <a:rPr lang="it-IT" sz="1400" dirty="0" err="1" smtClean="0"/>
              <a:t>tweets</a:t>
            </a:r>
            <a:endParaRPr lang="it-IT" sz="1400" dirty="0"/>
          </a:p>
          <a:p>
            <a:r>
              <a:rPr lang="it-IT" sz="1400" dirty="0" smtClean="0"/>
              <a:t>Con </a:t>
            </a:r>
            <a:r>
              <a:rPr lang="it-IT" sz="1400" dirty="0" err="1" smtClean="0"/>
              <a:t>cpu</a:t>
            </a:r>
            <a:r>
              <a:rPr lang="it-IT" sz="1400" dirty="0" smtClean="0"/>
              <a:t> al </a:t>
            </a:r>
            <a:r>
              <a:rPr lang="it-IT" sz="1400" dirty="0"/>
              <a:t>32</a:t>
            </a:r>
            <a:r>
              <a:rPr lang="it-IT" sz="1400" dirty="0" smtClean="0"/>
              <a:t>%</a:t>
            </a:r>
            <a:r>
              <a:rPr lang="it-IT" sz="1400" dirty="0"/>
              <a:t/>
            </a:r>
            <a:br>
              <a:rPr lang="it-IT" sz="1400" dirty="0"/>
            </a:br>
            <a:r>
              <a:rPr lang="it-IT" sz="1400" dirty="0" smtClean="0"/>
              <a:t>PWS* </a:t>
            </a:r>
            <a:r>
              <a:rPr lang="it-IT" sz="1400" dirty="0"/>
              <a:t>4,2 giga</a:t>
            </a:r>
            <a:br>
              <a:rPr lang="it-IT" sz="1400" dirty="0"/>
            </a:br>
            <a:r>
              <a:rPr lang="it-IT" sz="1400" dirty="0"/>
              <a:t/>
            </a:r>
            <a:br>
              <a:rPr lang="it-IT" sz="1400" dirty="0"/>
            </a:br>
            <a:endParaRPr lang="it-IT" dirty="0"/>
          </a:p>
        </p:txBody>
      </p:sp>
      <p:sp>
        <p:nvSpPr>
          <p:cNvPr id="10" name="Titolo 1"/>
          <p:cNvSpPr>
            <a:spLocks noGrp="1"/>
          </p:cNvSpPr>
          <p:nvPr>
            <p:ph type="title"/>
          </p:nvPr>
        </p:nvSpPr>
        <p:spPr>
          <a:xfrm>
            <a:off x="531832" y="210807"/>
            <a:ext cx="8596668" cy="1287439"/>
          </a:xfrm>
        </p:spPr>
        <p:txBody>
          <a:bodyPr>
            <a:normAutofit/>
          </a:bodyPr>
          <a:lstStyle/>
          <a:p>
            <a:pPr algn="ctr"/>
            <a:r>
              <a:rPr lang="it-IT" b="1" dirty="0" smtClean="0"/>
              <a:t>COMPARAZIONE </a:t>
            </a:r>
            <a:r>
              <a:rPr lang="it-IT" b="1" dirty="0" smtClean="0"/>
              <a:t>PRESTAZIONI</a:t>
            </a:r>
            <a:endParaRPr lang="it-IT" sz="480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000" dirty="0" smtClean="0"/>
              <a:t>*</a:t>
            </a:r>
            <a:r>
              <a:rPr lang="it-IT" sz="1000" dirty="0" err="1" smtClean="0"/>
              <a:t>Primary</a:t>
            </a:r>
            <a:r>
              <a:rPr lang="it-IT" sz="1000" dirty="0" smtClean="0"/>
              <a:t> </a:t>
            </a:r>
            <a:r>
              <a:rPr lang="it-IT" sz="1000" dirty="0" err="1" smtClean="0"/>
              <a:t>working</a:t>
            </a:r>
            <a:r>
              <a:rPr lang="it-IT" sz="1000" dirty="0" smtClean="0"/>
              <a:t> set, ossia l'insieme </a:t>
            </a:r>
            <a:r>
              <a:rPr lang="it-IT" sz="1000" dirty="0"/>
              <a:t>delle pagine di memoria utilizzate dai </a:t>
            </a:r>
            <a:r>
              <a:rPr lang="it-IT" sz="1000" dirty="0" smtClean="0"/>
              <a:t>processi in esecuzione</a:t>
            </a:r>
            <a:endParaRPr lang="it-IT" sz="1000" dirty="0"/>
          </a:p>
        </p:txBody>
      </p:sp>
    </p:spTree>
    <p:extLst>
      <p:ext uri="{BB962C8B-B14F-4D97-AF65-F5344CB8AC3E}">
        <p14:creationId xmlns:p14="http://schemas.microsoft.com/office/powerpoint/2010/main" val="2856764828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694</TotalTime>
  <Words>412</Words>
  <Application>Microsoft Office PowerPoint</Application>
  <PresentationFormat>Personalizzato</PresentationFormat>
  <Paragraphs>159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Sfaccettatura</vt:lpstr>
      <vt:lpstr>Presentazione standard di PowerPoint</vt:lpstr>
      <vt:lpstr>Presentazione standard di PowerPoint</vt:lpstr>
      <vt:lpstr>Schema dei dati</vt:lpstr>
      <vt:lpstr>Architettura degli shard in MongoDB</vt:lpstr>
      <vt:lpstr>Pipeline di elaborazione delle mappe in MongoDB</vt:lpstr>
      <vt:lpstr>Presentazione standard di PowerPoint</vt:lpstr>
      <vt:lpstr>Schema delle classi implementate</vt:lpstr>
      <vt:lpstr>PRINCIPALI LIBRERIE UTILIZZATE</vt:lpstr>
      <vt:lpstr>Word cloud dei tweet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STATISTICHE REALIZZATE</vt:lpstr>
      <vt:lpstr>Presentazione standard di PowerPoint</vt:lpstr>
      <vt:lpstr>USO DELLE RISORSE LESSICALI</vt:lpstr>
      <vt:lpstr>COMPARAZIONE PRESTAZIONI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Angelo</dc:creator>
  <cp:lastModifiedBy>Utente Windows</cp:lastModifiedBy>
  <cp:revision>72</cp:revision>
  <dcterms:created xsi:type="dcterms:W3CDTF">2020-05-07T15:09:40Z</dcterms:created>
  <dcterms:modified xsi:type="dcterms:W3CDTF">2020-05-17T10:31:08Z</dcterms:modified>
</cp:coreProperties>
</file>